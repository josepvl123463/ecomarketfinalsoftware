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41F"/>
        </a:solidFill>
        <a:effectLst/>
      </p:bgPr>
    </p:bg>
    <p:spTree>
      <p:nvGrpSpPr>
        <p:cNvPr id="1" name=""/>
        <p:cNvGrpSpPr/>
        <p:nvPr/>
      </p:nvGrpSpPr>
      <p:grpSpPr/>
      <p:sp>
        <p:nvSpPr>
          <p:cNvPr id="2" name="Rectangle 1"/>
          <p:cNvSpPr/>
          <p:nvPr/>
        </p:nvSpPr>
        <p:spPr>
          <a:xfrm>
            <a:off x="457200" y="0"/>
            <a:ext cx="91440" cy="6858000"/>
          </a:xfrm>
          <a:prstGeom prst="rect">
            <a:avLst/>
          </a:prstGeom>
          <a:solidFill>
            <a:srgbClr val="F2C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0"/>
            <a:ext cx="36576" cy="6858000"/>
          </a:xfrm>
          <a:prstGeom prst="rect">
            <a:avLst/>
          </a:prstGeom>
          <a:solidFill>
            <a:srgbClr val="74C6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463040"/>
            <a:ext cx="9144000" cy="3108960"/>
          </a:xfrm>
          <a:prstGeom prst="rect">
            <a:avLst/>
          </a:prstGeom>
          <a:noFill/>
        </p:spPr>
        <p:txBody>
          <a:bodyPr wrap="square">
            <a:spAutoFit/>
          </a:bodyPr>
          <a:lstStyle/>
          <a:p>
            <a:pPr>
              <a:defRPr sz="6600" b="1">
                <a:solidFill>
                  <a:srgbClr val="74C69D"/>
                </a:solidFill>
                <a:latin typeface="Georgia"/>
              </a:defRPr>
            </a:pPr>
            <a:r>
              <a:t>EcoMarket</a:t>
            </a:r>
          </a:p>
          <a:p>
            <a:pPr>
              <a:spcBef>
                <a:spcPts val="800"/>
              </a:spcBef>
              <a:defRPr sz="2600" b="1">
                <a:solidFill>
                  <a:srgbClr val="FFFFFF"/>
                </a:solidFill>
                <a:latin typeface="Arial"/>
              </a:defRPr>
            </a:pPr>
            <a:r>
              <a:t>Plataforma de Comercio Ecológico y Trazabilidad Ética</a:t>
            </a:r>
          </a:p>
          <a:p>
            <a:pPr>
              <a:spcBef>
                <a:spcPts val="1400"/>
              </a:spcBef>
              <a:defRPr sz="1500">
                <a:solidFill>
                  <a:srgbClr val="F2C94C"/>
                </a:solidFill>
                <a:latin typeface="Arial"/>
              </a:defRPr>
            </a:pPr>
            <a:r>
              <a:t>Sustentación de Proyecto | Análisis de Ingredientes por Inteligencia Artificial y Pasarela de Pago Nacional</a:t>
            </a:r>
          </a:p>
        </p:txBody>
      </p:sp>
      <p:sp>
        <p:nvSpPr>
          <p:cNvPr id="5" name="TextBox 4"/>
          <p:cNvSpPr txBox="1"/>
          <p:nvPr/>
        </p:nvSpPr>
        <p:spPr>
          <a:xfrm>
            <a:off x="1371600" y="4846320"/>
            <a:ext cx="9144000" cy="1371600"/>
          </a:xfrm>
          <a:prstGeom prst="rect">
            <a:avLst/>
          </a:prstGeom>
          <a:noFill/>
        </p:spPr>
        <p:txBody>
          <a:bodyPr wrap="square">
            <a:spAutoFit/>
          </a:bodyPr>
          <a:lstStyle/>
          <a:p>
            <a:pPr>
              <a:defRPr sz="1900" b="1">
                <a:solidFill>
                  <a:srgbClr val="FFFFFF"/>
                </a:solidFill>
                <a:latin typeface="Arial"/>
              </a:defRPr>
            </a:pPr>
            <a:r>
              <a:t>Presentado por: Josep Vladimir Garate Quispe</a:t>
            </a:r>
          </a:p>
          <a:p>
            <a:pPr>
              <a:spcBef>
                <a:spcPts val="400"/>
              </a:spcBef>
              <a:defRPr sz="1300">
                <a:solidFill>
                  <a:srgbClr val="74C69D"/>
                </a:solidFill>
                <a:latin typeface="Arial"/>
              </a:defRPr>
            </a:pPr>
            <a:r>
              <a:t>Arquitectura de Software y Sistemas Distribuidos Sostenibles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2E75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365760"/>
          </a:xfrm>
          <a:prstGeom prst="rect">
            <a:avLst/>
          </a:prstGeom>
          <a:noFill/>
        </p:spPr>
        <p:txBody>
          <a:bodyPr wrap="square">
            <a:spAutoFit/>
          </a:bodyPr>
          <a:lstStyle/>
          <a:p>
            <a:pPr>
              <a:defRPr sz="1100" b="1">
                <a:solidFill>
                  <a:srgbClr val="2E7559"/>
                </a:solidFill>
                <a:latin typeface="Arial"/>
              </a:defRPr>
            </a:pPr>
            <a:r>
              <a:t>EL DESAFÍO EN EL MERCADO SOSTENIBLE</a:t>
            </a:r>
          </a:p>
        </p:txBody>
      </p:sp>
      <p:sp>
        <p:nvSpPr>
          <p:cNvPr id="4" name="TextBox 3"/>
          <p:cNvSpPr txBox="1"/>
          <p:nvPr/>
        </p:nvSpPr>
        <p:spPr>
          <a:xfrm>
            <a:off x="548640" y="457200"/>
            <a:ext cx="10972800" cy="731520"/>
          </a:xfrm>
          <a:prstGeom prst="rect">
            <a:avLst/>
          </a:prstGeom>
          <a:noFill/>
        </p:spPr>
        <p:txBody>
          <a:bodyPr wrap="square">
            <a:spAutoFit/>
          </a:bodyPr>
          <a:lstStyle/>
          <a:p>
            <a:pPr>
              <a:defRPr sz="2800" b="1">
                <a:solidFill>
                  <a:srgbClr val="0F241F"/>
                </a:solidFill>
                <a:latin typeface="Georgia"/>
              </a:defRPr>
            </a:pPr>
            <a:r>
              <a:t>¿Por qué existe EcoMarket? Justificación del Proyecto</a:t>
            </a:r>
          </a:p>
        </p:txBody>
      </p:sp>
      <p:sp>
        <p:nvSpPr>
          <p:cNvPr id="5" name="Rounded Rectangle 4"/>
          <p:cNvSpPr/>
          <p:nvPr/>
        </p:nvSpPr>
        <p:spPr>
          <a:xfrm>
            <a:off x="731520" y="1463040"/>
            <a:ext cx="5486400" cy="146304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5212080" cy="1188720"/>
          </a:xfrm>
          <a:prstGeom prst="rect">
            <a:avLst/>
          </a:prstGeom>
          <a:noFill/>
        </p:spPr>
        <p:txBody>
          <a:bodyPr wrap="square">
            <a:spAutoFit/>
          </a:bodyPr>
          <a:lstStyle/>
          <a:p>
            <a:pPr>
              <a:defRPr sz="1300" b="1">
                <a:solidFill>
                  <a:srgbClr val="0F241F"/>
                </a:solidFill>
                <a:latin typeface="Arial"/>
              </a:defRPr>
            </a:pPr>
            <a:r>
              <a:t>1. Engaño Ecológico (Greenwashing)</a:t>
            </a:r>
          </a:p>
          <a:p>
            <a:pPr>
              <a:spcBef>
                <a:spcPts val="500"/>
              </a:spcBef>
              <a:defRPr sz="1000">
                <a:solidFill>
                  <a:srgbClr val="2D3748"/>
                </a:solidFill>
                <a:latin typeface="Arial"/>
              </a:defRPr>
            </a:pPr>
            <a:r>
              <a:t>Marcas comerciales que usan envases de aspecto natural y términos publicitarios vacíos ('eco', 'bio', 'natural') para camuflar ingredientes irritantes, plásticos o conservantes tóxicos.</a:t>
            </a:r>
          </a:p>
        </p:txBody>
      </p:sp>
      <p:sp>
        <p:nvSpPr>
          <p:cNvPr id="7" name="Rounded Rectangle 6"/>
          <p:cNvSpPr/>
          <p:nvPr/>
        </p:nvSpPr>
        <p:spPr>
          <a:xfrm>
            <a:off x="731520" y="3108960"/>
            <a:ext cx="5486400" cy="146304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246120"/>
            <a:ext cx="5212080" cy="1188720"/>
          </a:xfrm>
          <a:prstGeom prst="rect">
            <a:avLst/>
          </a:prstGeom>
          <a:noFill/>
        </p:spPr>
        <p:txBody>
          <a:bodyPr wrap="square">
            <a:spAutoFit/>
          </a:bodyPr>
          <a:lstStyle/>
          <a:p>
            <a:pPr>
              <a:defRPr sz="1300" b="1">
                <a:solidFill>
                  <a:srgbClr val="0F241F"/>
                </a:solidFill>
                <a:latin typeface="Arial"/>
              </a:defRPr>
            </a:pPr>
            <a:r>
              <a:t>2. Complejidad en las Etiquetas Químicas</a:t>
            </a:r>
          </a:p>
          <a:p>
            <a:pPr>
              <a:spcBef>
                <a:spcPts val="500"/>
              </a:spcBef>
              <a:defRPr sz="1000">
                <a:solidFill>
                  <a:srgbClr val="2D3748"/>
                </a:solidFill>
                <a:latin typeface="Arial"/>
              </a:defRPr>
            </a:pPr>
            <a:r>
              <a:t>La nomenclatura internacional de cosméticos (INCI) es incomprensible para el comprador común. No existe transparencia real sobre lo que aplicamos en nuestro cuerpo a diario.</a:t>
            </a:r>
          </a:p>
        </p:txBody>
      </p:sp>
      <p:sp>
        <p:nvSpPr>
          <p:cNvPr id="9" name="Rounded Rectangle 8"/>
          <p:cNvSpPr/>
          <p:nvPr/>
        </p:nvSpPr>
        <p:spPr>
          <a:xfrm>
            <a:off x="731520" y="4754880"/>
            <a:ext cx="5486400" cy="146304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892040"/>
            <a:ext cx="5212080" cy="1188720"/>
          </a:xfrm>
          <a:prstGeom prst="rect">
            <a:avLst/>
          </a:prstGeom>
          <a:noFill/>
        </p:spPr>
        <p:txBody>
          <a:bodyPr wrap="square">
            <a:spAutoFit/>
          </a:bodyPr>
          <a:lstStyle/>
          <a:p>
            <a:pPr>
              <a:defRPr sz="1300" b="1">
                <a:solidFill>
                  <a:srgbClr val="0F241F"/>
                </a:solidFill>
                <a:latin typeface="Arial"/>
              </a:defRPr>
            </a:pPr>
            <a:r>
              <a:t>3. Limitaciones del Comercio Local Peruano</a:t>
            </a:r>
          </a:p>
          <a:p>
            <a:pPr>
              <a:spcBef>
                <a:spcPts val="500"/>
              </a:spcBef>
              <a:defRPr sz="1000">
                <a:solidFill>
                  <a:srgbClr val="2D3748"/>
                </a:solidFill>
                <a:latin typeface="Arial"/>
              </a:defRPr>
            </a:pPr>
            <a:r>
              <a:t>Los emprendedores ecológicos peruanos no cuentan con plataformas modernas de ventas digitales adaptadas con pasarelas de pago locales ni con sellos de confianza química imparcial.</a:t>
            </a:r>
          </a:p>
        </p:txBody>
      </p:sp>
      <p:sp>
        <p:nvSpPr>
          <p:cNvPr id="11" name="Rectangle 10"/>
          <p:cNvSpPr/>
          <p:nvPr/>
        </p:nvSpPr>
        <p:spPr>
          <a:xfrm>
            <a:off x="6638544" y="1426464"/>
            <a:ext cx="4828032" cy="4370832"/>
          </a:xfrm>
          <a:prstGeom prst="rect">
            <a:avLst/>
          </a:prstGeom>
          <a:solidFill>
            <a:srgbClr val="FFFFFF"/>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hampoo_solido.png"/>
          <p:cNvPicPr>
            <a:picLocks noChangeAspect="1"/>
          </p:cNvPicPr>
          <p:nvPr/>
        </p:nvPicPr>
        <p:blipFill>
          <a:blip r:embed="rId2"/>
          <a:stretch>
            <a:fillRect/>
          </a:stretch>
        </p:blipFill>
        <p:spPr>
          <a:xfrm>
            <a:off x="6675120" y="1463040"/>
            <a:ext cx="4754880" cy="4297680"/>
          </a:xfrm>
          <a:prstGeom prst="rect">
            <a:avLst/>
          </a:prstGeom>
        </p:spPr>
      </p:pic>
      <p:sp>
        <p:nvSpPr>
          <p:cNvPr id="13" name="TextBox 12"/>
          <p:cNvSpPr txBox="1"/>
          <p:nvPr/>
        </p:nvSpPr>
        <p:spPr>
          <a:xfrm>
            <a:off x="6675120" y="5779008"/>
            <a:ext cx="4754880" cy="365760"/>
          </a:xfrm>
          <a:prstGeom prst="rect">
            <a:avLst/>
          </a:prstGeom>
          <a:noFill/>
        </p:spPr>
        <p:txBody>
          <a:bodyPr wrap="square">
            <a:spAutoFit/>
          </a:bodyPr>
          <a:lstStyle/>
          <a:p>
            <a:pPr algn="ctr">
              <a:defRPr sz="950" i="1">
                <a:solidFill>
                  <a:srgbClr val="0F241F"/>
                </a:solidFill>
                <a:latin typeface="Arial"/>
              </a:defRPr>
            </a:pPr>
            <a:r>
              <a:t>Garantía de Confianza: Productos con ingredientes verificados y libres de greenwashing.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2E75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365760"/>
          </a:xfrm>
          <a:prstGeom prst="rect">
            <a:avLst/>
          </a:prstGeom>
          <a:noFill/>
        </p:spPr>
        <p:txBody>
          <a:bodyPr wrap="square">
            <a:spAutoFit/>
          </a:bodyPr>
          <a:lstStyle/>
          <a:p>
            <a:pPr>
              <a:defRPr sz="1100" b="1">
                <a:solidFill>
                  <a:srgbClr val="2E7559"/>
                </a:solidFill>
                <a:latin typeface="Arial"/>
              </a:defRPr>
            </a:pPr>
            <a:r>
              <a:t>DEFINICIÓN DEL SISTEMA</a:t>
            </a:r>
          </a:p>
        </p:txBody>
      </p:sp>
      <p:sp>
        <p:nvSpPr>
          <p:cNvPr id="4" name="TextBox 3"/>
          <p:cNvSpPr txBox="1"/>
          <p:nvPr/>
        </p:nvSpPr>
        <p:spPr>
          <a:xfrm>
            <a:off x="548640" y="457200"/>
            <a:ext cx="10972800" cy="731520"/>
          </a:xfrm>
          <a:prstGeom prst="rect">
            <a:avLst/>
          </a:prstGeom>
          <a:noFill/>
        </p:spPr>
        <p:txBody>
          <a:bodyPr wrap="square">
            <a:spAutoFit/>
          </a:bodyPr>
          <a:lstStyle/>
          <a:p>
            <a:pPr>
              <a:defRPr sz="2800" b="1">
                <a:solidFill>
                  <a:srgbClr val="0F241F"/>
                </a:solidFill>
                <a:latin typeface="Georgia"/>
              </a:defRPr>
            </a:pPr>
            <a:r>
              <a:t>Alcance y Objetivos de la Plataforma</a:t>
            </a:r>
          </a:p>
        </p:txBody>
      </p:sp>
      <p:sp>
        <p:nvSpPr>
          <p:cNvPr id="5" name="Rounded Rectangle 4"/>
          <p:cNvSpPr/>
          <p:nvPr/>
        </p:nvSpPr>
        <p:spPr>
          <a:xfrm>
            <a:off x="731520" y="1645920"/>
            <a:ext cx="5120640" cy="201168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4846320" cy="1737360"/>
          </a:xfrm>
          <a:prstGeom prst="rect">
            <a:avLst/>
          </a:prstGeom>
          <a:noFill/>
        </p:spPr>
        <p:txBody>
          <a:bodyPr wrap="square">
            <a:spAutoFit/>
          </a:bodyPr>
          <a:lstStyle/>
          <a:p>
            <a:pPr>
              <a:defRPr sz="1300" b="1">
                <a:solidFill>
                  <a:srgbClr val="0F241F"/>
                </a:solidFill>
                <a:latin typeface="Arial"/>
              </a:defRPr>
            </a:pPr>
            <a:r>
              <a:t>A. Catálogo Dinámico en Soles (PEN)</a:t>
            </a:r>
          </a:p>
          <a:p>
            <a:pPr>
              <a:spcBef>
                <a:spcPts val="500"/>
              </a:spcBef>
              <a:defRPr sz="950">
                <a:solidFill>
                  <a:srgbClr val="2D3748"/>
                </a:solidFill>
                <a:latin typeface="Arial"/>
              </a:defRPr>
            </a:pPr>
            <a:r>
              <a:t>• Ampliado a 12 productos de higiene y alimentación realistas.</a:t>
            </a:r>
            <a:br/>
            <a:r>
              <a:t>• Categorías funcionales en tiempo real (Cuidado Personal, Limpieza, Alimentación, Hogar Eco).</a:t>
            </a:r>
            <a:br/>
            <a:r>
              <a:t>• Visualización limpia de precios, stock e información de empaque en moneda nacional.</a:t>
            </a:r>
          </a:p>
        </p:txBody>
      </p:sp>
      <p:sp>
        <p:nvSpPr>
          <p:cNvPr id="7" name="Rounded Rectangle 6"/>
          <p:cNvSpPr/>
          <p:nvPr/>
        </p:nvSpPr>
        <p:spPr>
          <a:xfrm>
            <a:off x="6217920" y="1645920"/>
            <a:ext cx="5120640" cy="201168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783080"/>
            <a:ext cx="4846320" cy="1737360"/>
          </a:xfrm>
          <a:prstGeom prst="rect">
            <a:avLst/>
          </a:prstGeom>
          <a:noFill/>
        </p:spPr>
        <p:txBody>
          <a:bodyPr wrap="square">
            <a:spAutoFit/>
          </a:bodyPr>
          <a:lstStyle/>
          <a:p>
            <a:pPr>
              <a:defRPr sz="1300" b="1">
                <a:solidFill>
                  <a:srgbClr val="0F241F"/>
                </a:solidFill>
                <a:latin typeface="Arial"/>
              </a:defRPr>
            </a:pPr>
            <a:r>
              <a:t>B. Motor de Auditoría Química por IA</a:t>
            </a:r>
          </a:p>
          <a:p>
            <a:pPr>
              <a:spcBef>
                <a:spcPts val="500"/>
              </a:spcBef>
              <a:defRPr sz="950">
                <a:solidFill>
                  <a:srgbClr val="2D3748"/>
                </a:solidFill>
                <a:latin typeface="Arial"/>
              </a:defRPr>
            </a:pPr>
            <a:r>
              <a:t>• Procesamiento automático de ingredientes en formato INCI.</a:t>
            </a:r>
            <a:br/>
            <a:r>
              <a:t>• Desglose atómico de cada compuesto con semáforo inteligente de seguridad (Verde, Amarillo, Rojo).</a:t>
            </a:r>
            <a:br/>
            <a:r>
              <a:t>• Acceso a reportes de toxicidad e ingredientes alergénicos para el comprador.</a:t>
            </a:r>
          </a:p>
        </p:txBody>
      </p:sp>
      <p:sp>
        <p:nvSpPr>
          <p:cNvPr id="9" name="Rounded Rectangle 8"/>
          <p:cNvSpPr/>
          <p:nvPr/>
        </p:nvSpPr>
        <p:spPr>
          <a:xfrm>
            <a:off x="731520" y="4023360"/>
            <a:ext cx="5120640" cy="201168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60520"/>
            <a:ext cx="4846320" cy="1737360"/>
          </a:xfrm>
          <a:prstGeom prst="rect">
            <a:avLst/>
          </a:prstGeom>
          <a:noFill/>
        </p:spPr>
        <p:txBody>
          <a:bodyPr wrap="square">
            <a:spAutoFit/>
          </a:bodyPr>
          <a:lstStyle/>
          <a:p>
            <a:pPr>
              <a:defRPr sz="1300" b="1">
                <a:solidFill>
                  <a:srgbClr val="0F241F"/>
                </a:solidFill>
                <a:latin typeface="Arial"/>
              </a:defRPr>
            </a:pPr>
            <a:r>
              <a:t>C. Centro de Pagos e Integración Peruana</a:t>
            </a:r>
          </a:p>
          <a:p>
            <a:pPr>
              <a:spcBef>
                <a:spcPts val="500"/>
              </a:spcBef>
              <a:defRPr sz="950">
                <a:solidFill>
                  <a:srgbClr val="2D3748"/>
                </a:solidFill>
                <a:latin typeface="Arial"/>
              </a:defRPr>
            </a:pPr>
            <a:r>
              <a:t>• Pasarela nativa y simulada en el checkout para billeteras móviles y bancos peruanos.</a:t>
            </a:r>
            <a:br/>
            <a:r>
              <a:t>• Flujos completos con códigos QR para Yape y Plin, código CIP para transferencias con TuPay, y validación visual de Tarjetas de Crédito/Débito.</a:t>
            </a:r>
          </a:p>
        </p:txBody>
      </p:sp>
      <p:sp>
        <p:nvSpPr>
          <p:cNvPr id="11" name="Rounded Rectangle 10"/>
          <p:cNvSpPr/>
          <p:nvPr/>
        </p:nvSpPr>
        <p:spPr>
          <a:xfrm>
            <a:off x="6217920" y="4023360"/>
            <a:ext cx="5120640" cy="201168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4160520"/>
            <a:ext cx="4846320" cy="1737360"/>
          </a:xfrm>
          <a:prstGeom prst="rect">
            <a:avLst/>
          </a:prstGeom>
          <a:noFill/>
        </p:spPr>
        <p:txBody>
          <a:bodyPr wrap="square">
            <a:spAutoFit/>
          </a:bodyPr>
          <a:lstStyle/>
          <a:p>
            <a:pPr>
              <a:defRPr sz="1300" b="1">
                <a:solidFill>
                  <a:srgbClr val="0F241F"/>
                </a:solidFill>
                <a:latin typeface="Arial"/>
              </a:defRPr>
            </a:pPr>
            <a:r>
              <a:t>D. Panel de Control y Trazabilidad Administrativa</a:t>
            </a:r>
          </a:p>
          <a:p>
            <a:pPr>
              <a:spcBef>
                <a:spcPts val="500"/>
              </a:spcBef>
              <a:defRPr sz="950">
                <a:solidFill>
                  <a:srgbClr val="2D3748"/>
                </a:solidFill>
                <a:latin typeface="Arial"/>
              </a:defRPr>
            </a:pPr>
            <a:r>
              <a:t>• Gestión centralizada de Clientes y Productores en el panel exclusivo `/admin`.</a:t>
            </a:r>
            <a:br/>
            <a:r>
              <a:t>• Verificación formal de productores con validación SUNAT (RUC).</a:t>
            </a:r>
            <a:br/>
            <a:r>
              <a:t>• Control de stock de catálogo e inspección del historial inalterable de auditoría.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2E75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365760"/>
          </a:xfrm>
          <a:prstGeom prst="rect">
            <a:avLst/>
          </a:prstGeom>
          <a:noFill/>
        </p:spPr>
        <p:txBody>
          <a:bodyPr wrap="square">
            <a:spAutoFit/>
          </a:bodyPr>
          <a:lstStyle/>
          <a:p>
            <a:pPr>
              <a:defRPr sz="1100" b="1">
                <a:solidFill>
                  <a:srgbClr val="2E7559"/>
                </a:solidFill>
                <a:latin typeface="Arial"/>
              </a:defRPr>
            </a:pPr>
            <a:r>
              <a:t>ESTRUCTURA TECNOLÓGICA</a:t>
            </a:r>
          </a:p>
        </p:txBody>
      </p:sp>
      <p:sp>
        <p:nvSpPr>
          <p:cNvPr id="4" name="TextBox 3"/>
          <p:cNvSpPr txBox="1"/>
          <p:nvPr/>
        </p:nvSpPr>
        <p:spPr>
          <a:xfrm>
            <a:off x="548640" y="457200"/>
            <a:ext cx="10972800" cy="731520"/>
          </a:xfrm>
          <a:prstGeom prst="rect">
            <a:avLst/>
          </a:prstGeom>
          <a:noFill/>
        </p:spPr>
        <p:txBody>
          <a:bodyPr wrap="square">
            <a:spAutoFit/>
          </a:bodyPr>
          <a:lstStyle/>
          <a:p>
            <a:pPr>
              <a:defRPr sz="2800" b="1">
                <a:solidFill>
                  <a:srgbClr val="0F241F"/>
                </a:solidFill>
                <a:latin typeface="Georgia"/>
              </a:defRPr>
            </a:pPr>
            <a:r>
              <a:t>Arquitectura General de Componentes y Flujos de Datos</a:t>
            </a:r>
          </a:p>
        </p:txBody>
      </p:sp>
      <p:sp>
        <p:nvSpPr>
          <p:cNvPr id="5" name="Rounded Rectangle 4"/>
          <p:cNvSpPr/>
          <p:nvPr/>
        </p:nvSpPr>
        <p:spPr>
          <a:xfrm>
            <a:off x="731520" y="1645920"/>
            <a:ext cx="2468880" cy="429768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2194560" cy="4023360"/>
          </a:xfrm>
          <a:prstGeom prst="rect">
            <a:avLst/>
          </a:prstGeom>
          <a:noFill/>
        </p:spPr>
        <p:txBody>
          <a:bodyPr wrap="square">
            <a:spAutoFit/>
          </a:bodyPr>
          <a:lstStyle/>
          <a:p>
            <a:pPr>
              <a:defRPr sz="1200" b="1">
                <a:solidFill>
                  <a:srgbClr val="0F241F"/>
                </a:solidFill>
                <a:latin typeface="Arial"/>
              </a:defRPr>
            </a:pPr>
            <a:r>
              <a:t>1. CAPA DE PRESENTACIÓN</a:t>
            </a:r>
          </a:p>
          <a:p>
            <a:pPr>
              <a:spcBef>
                <a:spcPts val="500"/>
              </a:spcBef>
              <a:defRPr sz="900">
                <a:solidFill>
                  <a:srgbClr val="2D3748"/>
                </a:solidFill>
                <a:latin typeface="Arial"/>
              </a:defRPr>
            </a:pPr>
            <a:r>
              <a:t>Next.js (React)</a:t>
            </a:r>
            <a:br/>
            <a:br/>
            <a:r>
              <a:t>• Interfaz de usuario responsiva, moderna e interactiva.</a:t>
            </a:r>
            <a:br/>
            <a:br/>
            <a:r>
              <a:t>• Panel Administrativo dinámico en la ruta protegida `/admin`.</a:t>
            </a:r>
            <a:br/>
            <a:br/>
            <a:r>
              <a:t>• Consumo directo de la API mediante pasarela segura.</a:t>
            </a:r>
          </a:p>
        </p:txBody>
      </p:sp>
      <p:sp>
        <p:nvSpPr>
          <p:cNvPr id="7" name="Rounded Rectangle 6"/>
          <p:cNvSpPr/>
          <p:nvPr/>
        </p:nvSpPr>
        <p:spPr>
          <a:xfrm>
            <a:off x="3474720" y="1645920"/>
            <a:ext cx="2468880" cy="429768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783080"/>
            <a:ext cx="2194560" cy="4023360"/>
          </a:xfrm>
          <a:prstGeom prst="rect">
            <a:avLst/>
          </a:prstGeom>
          <a:noFill/>
        </p:spPr>
        <p:txBody>
          <a:bodyPr wrap="square">
            <a:spAutoFit/>
          </a:bodyPr>
          <a:lstStyle/>
          <a:p>
            <a:pPr>
              <a:defRPr sz="1200" b="1">
                <a:solidFill>
                  <a:srgbClr val="0F241F"/>
                </a:solidFill>
                <a:latin typeface="Arial"/>
              </a:defRPr>
            </a:pPr>
            <a:r>
              <a:t>2. CAPA DE SEGURIDAD</a:t>
            </a:r>
          </a:p>
          <a:p>
            <a:pPr>
              <a:spcBef>
                <a:spcPts val="500"/>
              </a:spcBef>
              <a:defRPr sz="900">
                <a:solidFill>
                  <a:srgbClr val="2D3748"/>
                </a:solidFill>
                <a:latin typeface="Arial"/>
              </a:defRPr>
            </a:pPr>
            <a:r>
              <a:t>Kong API Gateway</a:t>
            </a:r>
            <a:br/>
            <a:br/>
            <a:r>
              <a:t>• Centraliza todas las peticiones del cliente en el puerto 8000.</a:t>
            </a:r>
            <a:br/>
            <a:br/>
            <a:r>
              <a:t>• Distribuye el tráfico hacia los microservicios correspondientes de forma transparente.</a:t>
            </a:r>
            <a:br/>
            <a:br/>
            <a:r>
              <a:t>• Control de accesos y seguridad perimetral integrada.</a:t>
            </a:r>
          </a:p>
        </p:txBody>
      </p:sp>
      <p:sp>
        <p:nvSpPr>
          <p:cNvPr id="9" name="Rounded Rectangle 8"/>
          <p:cNvSpPr/>
          <p:nvPr/>
        </p:nvSpPr>
        <p:spPr>
          <a:xfrm>
            <a:off x="6217920" y="1645920"/>
            <a:ext cx="2468880" cy="429768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783080"/>
            <a:ext cx="2194560" cy="4023360"/>
          </a:xfrm>
          <a:prstGeom prst="rect">
            <a:avLst/>
          </a:prstGeom>
          <a:noFill/>
        </p:spPr>
        <p:txBody>
          <a:bodyPr wrap="square">
            <a:spAutoFit/>
          </a:bodyPr>
          <a:lstStyle/>
          <a:p>
            <a:pPr>
              <a:defRPr sz="1200" b="1">
                <a:solidFill>
                  <a:srgbClr val="0F241F"/>
                </a:solidFill>
                <a:latin typeface="Arial"/>
              </a:defRPr>
            </a:pPr>
            <a:r>
              <a:t>3. CAPA DE SERVICIOS</a:t>
            </a:r>
          </a:p>
          <a:p>
            <a:pPr>
              <a:spcBef>
                <a:spcPts val="500"/>
              </a:spcBef>
              <a:defRPr sz="900">
                <a:solidFill>
                  <a:srgbClr val="2D3748"/>
                </a:solidFill>
                <a:latin typeface="Arial"/>
              </a:defRPr>
            </a:pPr>
            <a:r>
              <a:t>Microservicios Distribuidos</a:t>
            </a:r>
            <a:br/>
            <a:br/>
            <a:r>
              <a:t>• Spring Boot (Java): Servicios nucleares de catálogo (product) y autenticación (auth).</a:t>
            </a:r>
            <a:br/>
            <a:br/>
            <a:r>
              <a:t>• FastAPI (Python): Motor 'ai-engine' de procesamiento y análisis químico.</a:t>
            </a:r>
            <a:br/>
            <a:br/>
            <a:r>
              <a:t>• Node.js / Express: Procesamiento del canal de pagos (payment-service).</a:t>
            </a:r>
          </a:p>
        </p:txBody>
      </p:sp>
      <p:sp>
        <p:nvSpPr>
          <p:cNvPr id="11" name="Rounded Rectangle 10"/>
          <p:cNvSpPr/>
          <p:nvPr/>
        </p:nvSpPr>
        <p:spPr>
          <a:xfrm>
            <a:off x="8961120" y="1645920"/>
            <a:ext cx="2468880" cy="429768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98280" y="1783080"/>
            <a:ext cx="2194560" cy="4023360"/>
          </a:xfrm>
          <a:prstGeom prst="rect">
            <a:avLst/>
          </a:prstGeom>
          <a:noFill/>
        </p:spPr>
        <p:txBody>
          <a:bodyPr wrap="square">
            <a:spAutoFit/>
          </a:bodyPr>
          <a:lstStyle/>
          <a:p>
            <a:pPr>
              <a:defRPr sz="1200" b="1">
                <a:solidFill>
                  <a:srgbClr val="0F241F"/>
                </a:solidFill>
                <a:latin typeface="Arial"/>
              </a:defRPr>
            </a:pPr>
            <a:r>
              <a:t>4. CAPA DE PERSISTENCIA</a:t>
            </a:r>
          </a:p>
          <a:p>
            <a:pPr>
              <a:spcBef>
                <a:spcPts val="500"/>
              </a:spcBef>
              <a:defRPr sz="900">
                <a:solidFill>
                  <a:srgbClr val="2D3748"/>
                </a:solidFill>
                <a:latin typeface="Arial"/>
              </a:defRPr>
            </a:pPr>
            <a:r>
              <a:t>Capa de Datos Políglota</a:t>
            </a:r>
            <a:br/>
            <a:br/>
            <a:r>
              <a:t>• PostgreSQL: Base de datos relacional para usuarios, compras y catálogo principal.</a:t>
            </a:r>
            <a:br/>
            <a:br/>
            <a:r>
              <a:t>• MongoDB: Almacenamiento ágil para diccionario INCI y reportes de análisis químico.</a:t>
            </a:r>
            <a:br/>
            <a:br/>
            <a:r>
              <a:t>• Redis: Caché de alto rendimiento para sesiones y listados rápidos.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2E75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365760"/>
          </a:xfrm>
          <a:prstGeom prst="rect">
            <a:avLst/>
          </a:prstGeom>
          <a:noFill/>
        </p:spPr>
        <p:txBody>
          <a:bodyPr wrap="square">
            <a:spAutoFit/>
          </a:bodyPr>
          <a:lstStyle/>
          <a:p>
            <a:pPr>
              <a:defRPr sz="1100" b="1">
                <a:solidFill>
                  <a:srgbClr val="2E7559"/>
                </a:solidFill>
                <a:latin typeface="Arial"/>
              </a:defRPr>
            </a:pPr>
            <a:r>
              <a:t>HERRAMIENTAS DE DESARROLLO</a:t>
            </a:r>
          </a:p>
        </p:txBody>
      </p:sp>
      <p:sp>
        <p:nvSpPr>
          <p:cNvPr id="4" name="TextBox 3"/>
          <p:cNvSpPr txBox="1"/>
          <p:nvPr/>
        </p:nvSpPr>
        <p:spPr>
          <a:xfrm>
            <a:off x="548640" y="457200"/>
            <a:ext cx="10972800" cy="731520"/>
          </a:xfrm>
          <a:prstGeom prst="rect">
            <a:avLst/>
          </a:prstGeom>
          <a:noFill/>
        </p:spPr>
        <p:txBody>
          <a:bodyPr wrap="square">
            <a:spAutoFit/>
          </a:bodyPr>
          <a:lstStyle/>
          <a:p>
            <a:pPr>
              <a:defRPr sz="2800" b="1">
                <a:solidFill>
                  <a:srgbClr val="0F241F"/>
                </a:solidFill>
                <a:latin typeface="Georgia"/>
              </a:defRPr>
            </a:pPr>
            <a:r>
              <a:t>Tecnologías y Frameworks del Proyecto</a:t>
            </a:r>
          </a:p>
        </p:txBody>
      </p:sp>
      <p:sp>
        <p:nvSpPr>
          <p:cNvPr id="5" name="Rounded Rectangle 4"/>
          <p:cNvSpPr/>
          <p:nvPr/>
        </p:nvSpPr>
        <p:spPr>
          <a:xfrm>
            <a:off x="731520" y="1645920"/>
            <a:ext cx="3291840" cy="429768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3017520" cy="4023360"/>
          </a:xfrm>
          <a:prstGeom prst="rect">
            <a:avLst/>
          </a:prstGeom>
          <a:noFill/>
        </p:spPr>
        <p:txBody>
          <a:bodyPr wrap="square">
            <a:spAutoFit/>
          </a:bodyPr>
          <a:lstStyle/>
          <a:p>
            <a:pPr>
              <a:defRPr sz="1300" b="1">
                <a:solidFill>
                  <a:srgbClr val="0F241F"/>
                </a:solidFill>
                <a:latin typeface="Arial"/>
              </a:defRPr>
            </a:pPr>
            <a:r>
              <a:t>💻 FRONTEND (Next.js)</a:t>
            </a:r>
          </a:p>
          <a:p>
            <a:pPr>
              <a:spcBef>
                <a:spcPts val="500"/>
              </a:spcBef>
              <a:defRPr sz="950">
                <a:solidFill>
                  <a:srgbClr val="2D3748"/>
                </a:solidFill>
                <a:latin typeface="Arial"/>
              </a:defRPr>
            </a:pPr>
            <a:r>
              <a:t>La cara visible del proyecto está construida con tecnologías modernas y fluidas:</a:t>
            </a:r>
            <a:br/>
            <a:br/>
            <a:r>
              <a:t>• Framework: Next.js 14 con React Server Components.</a:t>
            </a:r>
            <a:br/>
            <a:r>
              <a:t>• Estilizado: TailwindCSS y Vanilla CSS para micro-animaciones inmersivas y un diseño premium.</a:t>
            </a:r>
            <a:br/>
            <a:r>
              <a:t>• Interactividad: Control reactivo de filtros de catálogo sin recargas de página mediante URL SearchParams.</a:t>
            </a:r>
            <a:br/>
            <a:r>
              <a:t>• Dashboard: Gráficas dinámicas SVG/CSS personalizadas en tiempo real.</a:t>
            </a:r>
          </a:p>
        </p:txBody>
      </p:sp>
      <p:sp>
        <p:nvSpPr>
          <p:cNvPr id="7" name="Rounded Rectangle 6"/>
          <p:cNvSpPr/>
          <p:nvPr/>
        </p:nvSpPr>
        <p:spPr>
          <a:xfrm>
            <a:off x="4389120" y="1645920"/>
            <a:ext cx="3291840" cy="429768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783080"/>
            <a:ext cx="3017520" cy="4023360"/>
          </a:xfrm>
          <a:prstGeom prst="rect">
            <a:avLst/>
          </a:prstGeom>
          <a:noFill/>
        </p:spPr>
        <p:txBody>
          <a:bodyPr wrap="square">
            <a:spAutoFit/>
          </a:bodyPr>
          <a:lstStyle/>
          <a:p>
            <a:pPr>
              <a:defRPr sz="1300" b="1">
                <a:solidFill>
                  <a:srgbClr val="0F241F"/>
                </a:solidFill>
                <a:latin typeface="Arial"/>
              </a:defRPr>
            </a:pPr>
            <a:r>
              <a:t>⚙️ BACKEND (Java &amp; Python)</a:t>
            </a:r>
          </a:p>
          <a:p>
            <a:pPr>
              <a:spcBef>
                <a:spcPts val="500"/>
              </a:spcBef>
              <a:defRPr sz="950">
                <a:solidFill>
                  <a:srgbClr val="2D3748"/>
                </a:solidFill>
                <a:latin typeface="Arial"/>
              </a:defRPr>
            </a:pPr>
            <a:r>
              <a:t>Un backend robusto e híbrido diseñado para aprovechar las mejores fortalezas de cada lenguaje:</a:t>
            </a:r>
            <a:br/>
            <a:br/>
            <a:r>
              <a:t>• Java (Spring Boot): Utilizado para la persistencia transaccional del catálogo de productos y control de sesiones de usuario.</a:t>
            </a:r>
            <a:br/>
            <a:r>
              <a:t>• Python (FastAPI): Motor ágil y de baja latencia especializado en la integración de algoritmos de procesamiento de texto (NLP) para ingredientes.</a:t>
            </a:r>
            <a:br/>
            <a:r>
              <a:t>• Node.js: Orquestación ágil de la simulación de cobros locales.</a:t>
            </a:r>
          </a:p>
        </p:txBody>
      </p:sp>
      <p:sp>
        <p:nvSpPr>
          <p:cNvPr id="9" name="Rounded Rectangle 8"/>
          <p:cNvSpPr/>
          <p:nvPr/>
        </p:nvSpPr>
        <p:spPr>
          <a:xfrm>
            <a:off x="8046720" y="1645920"/>
            <a:ext cx="3291840" cy="429768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783080"/>
            <a:ext cx="3017520" cy="4023360"/>
          </a:xfrm>
          <a:prstGeom prst="rect">
            <a:avLst/>
          </a:prstGeom>
          <a:noFill/>
        </p:spPr>
        <p:txBody>
          <a:bodyPr wrap="square">
            <a:spAutoFit/>
          </a:bodyPr>
          <a:lstStyle/>
          <a:p>
            <a:pPr>
              <a:defRPr sz="1300" b="1">
                <a:solidFill>
                  <a:srgbClr val="0F241F"/>
                </a:solidFill>
                <a:latin typeface="Arial"/>
              </a:defRPr>
            </a:pPr>
            <a:r>
              <a:t>🗄️ PERSISTENCIA &amp; INFRAESTRUCTURA</a:t>
            </a:r>
          </a:p>
          <a:p>
            <a:pPr>
              <a:spcBef>
                <a:spcPts val="500"/>
              </a:spcBef>
              <a:defRPr sz="950">
                <a:solidFill>
                  <a:srgbClr val="2D3748"/>
                </a:solidFill>
                <a:latin typeface="Arial"/>
              </a:defRPr>
            </a:pPr>
            <a:r>
              <a:t>Diseño de base de datos especializado según el caso de uso y virtualización de ambientes:</a:t>
            </a:r>
            <a:br/>
            <a:br/>
            <a:r>
              <a:t>• PostgreSQL: Robustez relacional, resguardo ACID de transacciones en soles (PEN).</a:t>
            </a:r>
            <a:br/>
            <a:r>
              <a:t>• MongoDB: Flexibilidad de documentos BSON para estructurar el diccionario de toxicidad química INCI.</a:t>
            </a:r>
            <a:br/>
            <a:r>
              <a:t>• Redis: Almacenamiento rápido en memoria RAM para optimización de respuestas de la API.</a:t>
            </a:r>
            <a:br/>
            <a:r>
              <a:t>• Docker / Compose: Contenedores aislados y reproducibles en cualquier PC.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2E75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365760"/>
          </a:xfrm>
          <a:prstGeom prst="rect">
            <a:avLst/>
          </a:prstGeom>
          <a:noFill/>
        </p:spPr>
        <p:txBody>
          <a:bodyPr wrap="square">
            <a:spAutoFit/>
          </a:bodyPr>
          <a:lstStyle/>
          <a:p>
            <a:pPr>
              <a:defRPr sz="1100" b="1">
                <a:solidFill>
                  <a:srgbClr val="2E7559"/>
                </a:solidFill>
                <a:latin typeface="Arial"/>
              </a:defRPr>
            </a:pPr>
            <a:r>
              <a:t>SEGURIDAD Y TRAZABILIDAD</a:t>
            </a:r>
          </a:p>
        </p:txBody>
      </p:sp>
      <p:sp>
        <p:nvSpPr>
          <p:cNvPr id="4" name="TextBox 3"/>
          <p:cNvSpPr txBox="1"/>
          <p:nvPr/>
        </p:nvSpPr>
        <p:spPr>
          <a:xfrm>
            <a:off x="548640" y="457200"/>
            <a:ext cx="10972800" cy="731520"/>
          </a:xfrm>
          <a:prstGeom prst="rect">
            <a:avLst/>
          </a:prstGeom>
          <a:noFill/>
        </p:spPr>
        <p:txBody>
          <a:bodyPr wrap="square">
            <a:spAutoFit/>
          </a:bodyPr>
          <a:lstStyle/>
          <a:p>
            <a:pPr>
              <a:defRPr sz="2800" b="1">
                <a:solidFill>
                  <a:srgbClr val="0F241F"/>
                </a:solidFill>
                <a:latin typeface="Georgia"/>
              </a:defRPr>
            </a:pPr>
            <a:r>
              <a:t>Proceso de Compra Segura y Auditoría de Confianza</a:t>
            </a:r>
          </a:p>
        </p:txBody>
      </p:sp>
      <p:sp>
        <p:nvSpPr>
          <p:cNvPr id="5" name="Rounded Rectangle 4"/>
          <p:cNvSpPr/>
          <p:nvPr/>
        </p:nvSpPr>
        <p:spPr>
          <a:xfrm>
            <a:off x="731520" y="1463040"/>
            <a:ext cx="5486400" cy="146304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5212080" cy="1188720"/>
          </a:xfrm>
          <a:prstGeom prst="rect">
            <a:avLst/>
          </a:prstGeom>
          <a:noFill/>
        </p:spPr>
        <p:txBody>
          <a:bodyPr wrap="square">
            <a:spAutoFit/>
          </a:bodyPr>
          <a:lstStyle/>
          <a:p>
            <a:pPr>
              <a:defRPr sz="1300" b="1">
                <a:solidFill>
                  <a:srgbClr val="0F241F"/>
                </a:solidFill>
                <a:latin typeface="Arial"/>
              </a:defRPr>
            </a:pPr>
            <a:r>
              <a:t>1. Carga de Ingredientes (INCI) y Análisis de la IA</a:t>
            </a:r>
          </a:p>
          <a:p>
            <a:pPr>
              <a:spcBef>
                <a:spcPts val="500"/>
              </a:spcBef>
              <a:defRPr sz="950">
                <a:solidFill>
                  <a:srgbClr val="2D3748"/>
                </a:solidFill>
                <a:latin typeface="Arial"/>
              </a:defRPr>
            </a:pPr>
            <a:r>
              <a:t>El productor ingresa los componentes exactos de su fórmula. El motor de Inteligencia Artificial (FastAPI) analiza cada término y califica su seguridad al instante, previniendo el fraude de etiquetas ecológicas.</a:t>
            </a:r>
          </a:p>
        </p:txBody>
      </p:sp>
      <p:sp>
        <p:nvSpPr>
          <p:cNvPr id="7" name="Rounded Rectangle 6"/>
          <p:cNvSpPr/>
          <p:nvPr/>
        </p:nvSpPr>
        <p:spPr>
          <a:xfrm>
            <a:off x="731520" y="3108960"/>
            <a:ext cx="5486400" cy="146304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246120"/>
            <a:ext cx="5212080" cy="1188720"/>
          </a:xfrm>
          <a:prstGeom prst="rect">
            <a:avLst/>
          </a:prstGeom>
          <a:noFill/>
        </p:spPr>
        <p:txBody>
          <a:bodyPr wrap="square">
            <a:spAutoFit/>
          </a:bodyPr>
          <a:lstStyle/>
          <a:p>
            <a:pPr>
              <a:defRPr sz="1300" b="1">
                <a:solidFill>
                  <a:srgbClr val="0F241F"/>
                </a:solidFill>
                <a:latin typeface="Arial"/>
              </a:defRPr>
            </a:pPr>
            <a:r>
              <a:t>2. Sello de Registro de Auditoría</a:t>
            </a:r>
          </a:p>
          <a:p>
            <a:pPr>
              <a:spcBef>
                <a:spcPts val="500"/>
              </a:spcBef>
              <a:defRPr sz="950">
                <a:solidFill>
                  <a:srgbClr val="2D3748"/>
                </a:solidFill>
                <a:latin typeface="Arial"/>
              </a:defRPr>
            </a:pPr>
            <a:r>
              <a:t>Los reportes de toxicidad analizados se graban en un registro histórico inmutable de auditorías. Esto garantiza que ningún productor ni administrador pueda borrar la 'huella química' de un producto en el sistema.</a:t>
            </a:r>
          </a:p>
        </p:txBody>
      </p:sp>
      <p:sp>
        <p:nvSpPr>
          <p:cNvPr id="9" name="Rounded Rectangle 8"/>
          <p:cNvSpPr/>
          <p:nvPr/>
        </p:nvSpPr>
        <p:spPr>
          <a:xfrm>
            <a:off x="731520" y="4754880"/>
            <a:ext cx="5486400" cy="146304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892040"/>
            <a:ext cx="5212080" cy="1188720"/>
          </a:xfrm>
          <a:prstGeom prst="rect">
            <a:avLst/>
          </a:prstGeom>
          <a:noFill/>
        </p:spPr>
        <p:txBody>
          <a:bodyPr wrap="square">
            <a:spAutoFit/>
          </a:bodyPr>
          <a:lstStyle/>
          <a:p>
            <a:pPr>
              <a:defRPr sz="1300" b="1">
                <a:solidFill>
                  <a:srgbClr val="0F241F"/>
                </a:solidFill>
                <a:latin typeface="Arial"/>
              </a:defRPr>
            </a:pPr>
            <a:r>
              <a:t>3. Checkout y Pasarela de Pagos Local</a:t>
            </a:r>
          </a:p>
          <a:p>
            <a:pPr>
              <a:spcBef>
                <a:spcPts val="500"/>
              </a:spcBef>
              <a:defRPr sz="950">
                <a:solidFill>
                  <a:srgbClr val="2D3748"/>
                </a:solidFill>
                <a:latin typeface="Arial"/>
              </a:defRPr>
            </a:pPr>
            <a:r>
              <a:t>El usuario visualiza de forma transparente el semáforo de seguridad e ingredientes del producto antes de proceder a la compra. El pago se procesa de forma directa y reduce el stock de manera segura en Soles peruanos (PEN).</a:t>
            </a:r>
          </a:p>
        </p:txBody>
      </p:sp>
      <p:sp>
        <p:nvSpPr>
          <p:cNvPr id="11" name="Rectangle 10"/>
          <p:cNvSpPr/>
          <p:nvPr/>
        </p:nvSpPr>
        <p:spPr>
          <a:xfrm>
            <a:off x="6638544" y="1426464"/>
            <a:ext cx="4828032" cy="4370832"/>
          </a:xfrm>
          <a:prstGeom prst="rect">
            <a:avLst/>
          </a:prstGeom>
          <a:solidFill>
            <a:srgbClr val="FFFFFF"/>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jabon_avena.png"/>
          <p:cNvPicPr>
            <a:picLocks noChangeAspect="1"/>
          </p:cNvPicPr>
          <p:nvPr/>
        </p:nvPicPr>
        <p:blipFill>
          <a:blip r:embed="rId2"/>
          <a:stretch>
            <a:fillRect/>
          </a:stretch>
        </p:blipFill>
        <p:spPr>
          <a:xfrm>
            <a:off x="6675120" y="1463040"/>
            <a:ext cx="4754880" cy="4297680"/>
          </a:xfrm>
          <a:prstGeom prst="rect">
            <a:avLst/>
          </a:prstGeom>
        </p:spPr>
      </p:pic>
      <p:sp>
        <p:nvSpPr>
          <p:cNvPr id="13" name="TextBox 12"/>
          <p:cNvSpPr txBox="1"/>
          <p:nvPr/>
        </p:nvSpPr>
        <p:spPr>
          <a:xfrm>
            <a:off x="6675120" y="5779008"/>
            <a:ext cx="4754880" cy="365760"/>
          </a:xfrm>
          <a:prstGeom prst="rect">
            <a:avLst/>
          </a:prstGeom>
          <a:noFill/>
        </p:spPr>
        <p:txBody>
          <a:bodyPr wrap="square">
            <a:spAutoFit/>
          </a:bodyPr>
          <a:lstStyle/>
          <a:p>
            <a:pPr algn="ctr">
              <a:defRPr sz="950" i="1">
                <a:solidFill>
                  <a:srgbClr val="0F241F"/>
                </a:solidFill>
                <a:latin typeface="Arial"/>
              </a:defRPr>
            </a:pPr>
            <a:r>
              <a:t>Garantía de Confianza: Flujo transparente desde la carga del producto hasta la compra ética.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2E75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365760"/>
          </a:xfrm>
          <a:prstGeom prst="rect">
            <a:avLst/>
          </a:prstGeom>
          <a:noFill/>
        </p:spPr>
        <p:txBody>
          <a:bodyPr wrap="square">
            <a:spAutoFit/>
          </a:bodyPr>
          <a:lstStyle/>
          <a:p>
            <a:pPr>
              <a:defRPr sz="1100" b="1">
                <a:solidFill>
                  <a:srgbClr val="2E7559"/>
                </a:solidFill>
                <a:latin typeface="Arial"/>
              </a:defRPr>
            </a:pPr>
            <a:r>
              <a:t>RESUMEN DEL PROYECTO</a:t>
            </a:r>
          </a:p>
        </p:txBody>
      </p:sp>
      <p:sp>
        <p:nvSpPr>
          <p:cNvPr id="4" name="TextBox 3"/>
          <p:cNvSpPr txBox="1"/>
          <p:nvPr/>
        </p:nvSpPr>
        <p:spPr>
          <a:xfrm>
            <a:off x="548640" y="457200"/>
            <a:ext cx="10972800" cy="731520"/>
          </a:xfrm>
          <a:prstGeom prst="rect">
            <a:avLst/>
          </a:prstGeom>
          <a:noFill/>
        </p:spPr>
        <p:txBody>
          <a:bodyPr wrap="square">
            <a:spAutoFit/>
          </a:bodyPr>
          <a:lstStyle/>
          <a:p>
            <a:pPr>
              <a:defRPr sz="2800" b="1">
                <a:solidFill>
                  <a:srgbClr val="0F241F"/>
                </a:solidFill>
                <a:latin typeface="Georgia"/>
              </a:defRPr>
            </a:pPr>
            <a:r>
              <a:t>Conclusiones e Impacto del Proyecto EcoMarket</a:t>
            </a:r>
          </a:p>
        </p:txBody>
      </p:sp>
      <p:sp>
        <p:nvSpPr>
          <p:cNvPr id="5" name="Rounded Rectangle 4"/>
          <p:cNvSpPr/>
          <p:nvPr/>
        </p:nvSpPr>
        <p:spPr>
          <a:xfrm>
            <a:off x="731520" y="1645920"/>
            <a:ext cx="3291840" cy="429768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3017520" cy="4023360"/>
          </a:xfrm>
          <a:prstGeom prst="rect">
            <a:avLst/>
          </a:prstGeom>
          <a:noFill/>
        </p:spPr>
        <p:txBody>
          <a:bodyPr wrap="square">
            <a:spAutoFit/>
          </a:bodyPr>
          <a:lstStyle/>
          <a:p>
            <a:pPr>
              <a:defRPr sz="1300" b="1">
                <a:solidFill>
                  <a:srgbClr val="0F241F"/>
                </a:solidFill>
                <a:latin typeface="Arial"/>
              </a:defRPr>
            </a:pPr>
            <a:r>
              <a:t>🌿 Bienestar y Salud Familiar</a:t>
            </a:r>
          </a:p>
          <a:p>
            <a:pPr>
              <a:spcBef>
                <a:spcPts val="500"/>
              </a:spcBef>
              <a:defRPr sz="950">
                <a:solidFill>
                  <a:srgbClr val="2D3748"/>
                </a:solidFill>
                <a:latin typeface="Arial"/>
              </a:defRPr>
            </a:pPr>
            <a:r>
              <a:t>• Compra informada: Protege al consumidor final frente a la exposición crónica de alérgenos y disruptores endocrinos.</a:t>
            </a:r>
            <a:br/>
            <a:br/>
            <a:r>
              <a:t>• Educación: Traduce términos científicos complejos a un semáforo visual comprensible por cualquier miembro del hogar, democratizando el acceso a la salud cosmética.</a:t>
            </a:r>
          </a:p>
        </p:txBody>
      </p:sp>
      <p:sp>
        <p:nvSpPr>
          <p:cNvPr id="7" name="Rounded Rectangle 6"/>
          <p:cNvSpPr/>
          <p:nvPr/>
        </p:nvSpPr>
        <p:spPr>
          <a:xfrm>
            <a:off x="4389120" y="1645920"/>
            <a:ext cx="3291840" cy="429768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783080"/>
            <a:ext cx="3017520" cy="4023360"/>
          </a:xfrm>
          <a:prstGeom prst="rect">
            <a:avLst/>
          </a:prstGeom>
          <a:noFill/>
        </p:spPr>
        <p:txBody>
          <a:bodyPr wrap="square">
            <a:spAutoFit/>
          </a:bodyPr>
          <a:lstStyle/>
          <a:p>
            <a:pPr>
              <a:defRPr sz="1300" b="1">
                <a:solidFill>
                  <a:srgbClr val="0F241F"/>
                </a:solidFill>
                <a:latin typeface="Arial"/>
              </a:defRPr>
            </a:pPr>
            <a:r>
              <a:t>🌎 Consumo Sostenible Real</a:t>
            </a:r>
          </a:p>
          <a:p>
            <a:pPr>
              <a:spcBef>
                <a:spcPts val="500"/>
              </a:spcBef>
              <a:defRPr sz="950">
                <a:solidFill>
                  <a:srgbClr val="2D3748"/>
                </a:solidFill>
                <a:latin typeface="Arial"/>
              </a:defRPr>
            </a:pPr>
            <a:r>
              <a:t>• Sello de Confianza: Acaba con el 'Greenwashing' al fundamentar el catálogo en análisis químicos objetivos y comprobables.</a:t>
            </a:r>
            <a:br/>
            <a:br/>
            <a:r>
              <a:t>• Cuidado Planetario: Impulsa el consumo de fórmulas biodegradables y accesorios de materiales alternativos (como el bambú y fibras naturales).</a:t>
            </a:r>
          </a:p>
        </p:txBody>
      </p:sp>
      <p:sp>
        <p:nvSpPr>
          <p:cNvPr id="9" name="Rounded Rectangle 8"/>
          <p:cNvSpPr/>
          <p:nvPr/>
        </p:nvSpPr>
        <p:spPr>
          <a:xfrm>
            <a:off x="8046720" y="1645920"/>
            <a:ext cx="3291840" cy="4297680"/>
          </a:xfrm>
          <a:prstGeom prst="roundRect">
            <a:avLst/>
          </a:prstGeom>
          <a:solidFill>
            <a:srgbClr val="FFFFFF"/>
          </a:solidFill>
          <a:ln w="1905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783080"/>
            <a:ext cx="3017520" cy="4023360"/>
          </a:xfrm>
          <a:prstGeom prst="rect">
            <a:avLst/>
          </a:prstGeom>
          <a:noFill/>
        </p:spPr>
        <p:txBody>
          <a:bodyPr wrap="square">
            <a:spAutoFit/>
          </a:bodyPr>
          <a:lstStyle/>
          <a:p>
            <a:pPr>
              <a:defRPr sz="1300" b="1">
                <a:solidFill>
                  <a:srgbClr val="0F241F"/>
                </a:solidFill>
                <a:latin typeface="Arial"/>
              </a:defRPr>
            </a:pPr>
            <a:r>
              <a:t>🇵🇪 Impulso del Comercio Local</a:t>
            </a:r>
          </a:p>
          <a:p>
            <a:pPr>
              <a:spcBef>
                <a:spcPts val="500"/>
              </a:spcBef>
              <a:defRPr sz="950">
                <a:solidFill>
                  <a:srgbClr val="2D3748"/>
                </a:solidFill>
                <a:latin typeface="Arial"/>
              </a:defRPr>
            </a:pPr>
            <a:r>
              <a:t>• Inclusión Financiera: Facilita que productores formales de regiones agrícolas del Perú vendan por internet con Yape y Plin de forma directa.</a:t>
            </a:r>
            <a:br/>
            <a:br/>
            <a:r>
              <a:t>• Desarrollo Sostenible: Dinamiza la economía local, fomentando el desarrollo de emprendimientos ecológicos de alta calidad y comercio justo.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