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41F"/>
        </a:solidFill>
        <a:effectLst/>
      </p:bgPr>
    </p:bg>
    <p:spTree>
      <p:nvGrpSpPr>
        <p:cNvPr id="1" name=""/>
        <p:cNvGrpSpPr/>
        <p:nvPr/>
      </p:nvGrpSpPr>
      <p:grpSpPr/>
      <p:sp>
        <p:nvSpPr>
          <p:cNvPr id="2" name="Rectangle 1"/>
          <p:cNvSpPr/>
          <p:nvPr/>
        </p:nvSpPr>
        <p:spPr>
          <a:xfrm>
            <a:off x="457200" y="0"/>
            <a:ext cx="91440" cy="6858000"/>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0"/>
            <a:ext cx="36576" cy="6858000"/>
          </a:xfrm>
          <a:prstGeom prst="rect">
            <a:avLst/>
          </a:prstGeom>
          <a:solidFill>
            <a:srgbClr val="74C6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2926080"/>
          </a:xfrm>
          <a:prstGeom prst="rect">
            <a:avLst/>
          </a:prstGeom>
          <a:noFill/>
        </p:spPr>
        <p:txBody>
          <a:bodyPr wrap="square">
            <a:spAutoFit/>
          </a:bodyPr>
          <a:lstStyle/>
          <a:p>
            <a:pPr>
              <a:defRPr sz="6600" b="1">
                <a:solidFill>
                  <a:srgbClr val="74C69D"/>
                </a:solidFill>
                <a:latin typeface="Georgia"/>
              </a:defRPr>
            </a:pPr>
            <a:r>
              <a:t>EcoMarket</a:t>
            </a:r>
          </a:p>
          <a:p>
            <a:pPr>
              <a:spcBef>
                <a:spcPts val="800"/>
              </a:spcBef>
              <a:defRPr sz="2800" b="1">
                <a:solidFill>
                  <a:srgbClr val="FFFFFF"/>
                </a:solidFill>
                <a:latin typeface="Arial"/>
              </a:defRPr>
            </a:pPr>
            <a:r>
              <a:t>Tu Elección Sostenible de Confianza</a:t>
            </a:r>
          </a:p>
          <a:p>
            <a:pPr>
              <a:spcBef>
                <a:spcPts val="1400"/>
              </a:spcBef>
              <a:defRPr sz="1600">
                <a:solidFill>
                  <a:srgbClr val="F2C94C"/>
                </a:solidFill>
                <a:latin typeface="Arial"/>
              </a:defRPr>
            </a:pPr>
            <a:r>
              <a:t>El marketplace que cuida tu salud, descifra las etiquetas químicas y apoya al productor local peruano</a:t>
            </a:r>
          </a:p>
        </p:txBody>
      </p:sp>
      <p:sp>
        <p:nvSpPr>
          <p:cNvPr id="5" name="TextBox 4"/>
          <p:cNvSpPr txBox="1"/>
          <p:nvPr/>
        </p:nvSpPr>
        <p:spPr>
          <a:xfrm>
            <a:off x="1371600" y="4846320"/>
            <a:ext cx="9144000" cy="1371600"/>
          </a:xfrm>
          <a:prstGeom prst="rect">
            <a:avLst/>
          </a:prstGeom>
          <a:noFill/>
        </p:spPr>
        <p:txBody>
          <a:bodyPr wrap="square">
            <a:spAutoFit/>
          </a:bodyPr>
          <a:lstStyle/>
          <a:p>
            <a:pPr>
              <a:defRPr sz="1900" b="1">
                <a:solidFill>
                  <a:srgbClr val="FFFFFF"/>
                </a:solidFill>
                <a:latin typeface="Arial"/>
              </a:defRPr>
            </a:pPr>
            <a:r>
              <a:t>Presentado por: Josep Vladimir Garate Quispe</a:t>
            </a:r>
          </a:p>
          <a:p>
            <a:pPr>
              <a:spcBef>
                <a:spcPts val="400"/>
              </a:spcBef>
              <a:defRPr sz="1300">
                <a:solidFill>
                  <a:srgbClr val="74C69D"/>
                </a:solidFill>
                <a:latin typeface="Arial"/>
              </a:defRPr>
            </a:pPr>
            <a:r>
              <a:t>Proyecto de Innovación Tecnológica y Comercio Sostenible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EL RETO EN EL SUPERMERCADO</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¿Por qué es tan difícil comprar de forma ecológica?</a:t>
            </a:r>
          </a:p>
        </p:txBody>
      </p:sp>
      <p:sp>
        <p:nvSpPr>
          <p:cNvPr id="5" name="Rounded Rectangle 4"/>
          <p:cNvSpPr/>
          <p:nvPr/>
        </p:nvSpPr>
        <p:spPr>
          <a:xfrm>
            <a:off x="731520" y="146304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5212080" cy="1188720"/>
          </a:xfrm>
          <a:prstGeom prst="rect">
            <a:avLst/>
          </a:prstGeom>
          <a:noFill/>
        </p:spPr>
        <p:txBody>
          <a:bodyPr wrap="square">
            <a:spAutoFit/>
          </a:bodyPr>
          <a:lstStyle/>
          <a:p>
            <a:pPr>
              <a:defRPr sz="1400" b="1">
                <a:solidFill>
                  <a:srgbClr val="0F241F"/>
                </a:solidFill>
                <a:latin typeface="Arial"/>
              </a:defRPr>
            </a:pPr>
            <a:r>
              <a:t>1. Etiquetas Confusas y Misteriosas</a:t>
            </a:r>
          </a:p>
          <a:p>
            <a:pPr>
              <a:spcBef>
                <a:spcPts val="600"/>
              </a:spcBef>
              <a:defRPr sz="1100">
                <a:solidFill>
                  <a:srgbClr val="2D3748"/>
                </a:solidFill>
                <a:latin typeface="Arial"/>
              </a:defRPr>
            </a:pPr>
            <a:r>
              <a:t>Compramos un champú o jabón y la parte de atrás está llena de nombres químicos indescifrables. El consumidor común no sabe si está usando un ingrediente seguro o un derivado irritante.</a:t>
            </a:r>
          </a:p>
        </p:txBody>
      </p:sp>
      <p:sp>
        <p:nvSpPr>
          <p:cNvPr id="7" name="Rounded Rectangle 6"/>
          <p:cNvSpPr/>
          <p:nvPr/>
        </p:nvSpPr>
        <p:spPr>
          <a:xfrm>
            <a:off x="731520" y="310896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5212080" cy="1188720"/>
          </a:xfrm>
          <a:prstGeom prst="rect">
            <a:avLst/>
          </a:prstGeom>
          <a:noFill/>
        </p:spPr>
        <p:txBody>
          <a:bodyPr wrap="square">
            <a:spAutoFit/>
          </a:bodyPr>
          <a:lstStyle/>
          <a:p>
            <a:pPr>
              <a:defRPr sz="1400" b="1">
                <a:solidFill>
                  <a:srgbClr val="0F241F"/>
                </a:solidFill>
                <a:latin typeface="Arial"/>
              </a:defRPr>
            </a:pPr>
            <a:r>
              <a:t>2. Marcas con 'Falsa Apariencia' (Greenwashing)</a:t>
            </a:r>
          </a:p>
          <a:p>
            <a:pPr>
              <a:spcBef>
                <a:spcPts val="600"/>
              </a:spcBef>
              <a:defRPr sz="1100">
                <a:solidFill>
                  <a:srgbClr val="2D3748"/>
                </a:solidFill>
                <a:latin typeface="Arial"/>
              </a:defRPr>
            </a:pPr>
            <a:r>
              <a:t>Envases verdes, dibujos de flores y palabras como 'natural' u 'orgánico'. Sin embargo, muchas marcas usan esto como estrategia publicitaria sin tener certificaciones ni ingredientes limpios.</a:t>
            </a:r>
          </a:p>
        </p:txBody>
      </p:sp>
      <p:sp>
        <p:nvSpPr>
          <p:cNvPr id="9" name="Rounded Rectangle 8"/>
          <p:cNvSpPr/>
          <p:nvPr/>
        </p:nvSpPr>
        <p:spPr>
          <a:xfrm>
            <a:off x="731520" y="475488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92040"/>
            <a:ext cx="5212080" cy="1188720"/>
          </a:xfrm>
          <a:prstGeom prst="rect">
            <a:avLst/>
          </a:prstGeom>
          <a:noFill/>
        </p:spPr>
        <p:txBody>
          <a:bodyPr wrap="square">
            <a:spAutoFit/>
          </a:bodyPr>
          <a:lstStyle/>
          <a:p>
            <a:pPr>
              <a:defRPr sz="1400" b="1">
                <a:solidFill>
                  <a:srgbClr val="0F241F"/>
                </a:solidFill>
                <a:latin typeface="Arial"/>
              </a:defRPr>
            </a:pPr>
            <a:r>
              <a:t>3. Barreras para el Productor Local</a:t>
            </a:r>
          </a:p>
          <a:p>
            <a:pPr>
              <a:spcBef>
                <a:spcPts val="600"/>
              </a:spcBef>
              <a:defRPr sz="1100">
                <a:solidFill>
                  <a:srgbClr val="2D3748"/>
                </a:solidFill>
                <a:latin typeface="Arial"/>
              </a:defRPr>
            </a:pPr>
            <a:r>
              <a:t>Los pequeños emprendedores peruanos que fabrican productos verdaderamente ecológicos no tienen canales masivos para vender de forma fácil y confiable en internet.</a:t>
            </a:r>
          </a:p>
        </p:txBody>
      </p:sp>
      <p:sp>
        <p:nvSpPr>
          <p:cNvPr id="11" name="Rectangle 10"/>
          <p:cNvSpPr/>
          <p:nvPr/>
        </p:nvSpPr>
        <p:spPr>
          <a:xfrm>
            <a:off x="6629400" y="1417320"/>
            <a:ext cx="4846320" cy="4389120"/>
          </a:xfrm>
          <a:prstGeom prst="rect">
            <a:avLst/>
          </a:prstGeom>
          <a:solidFill>
            <a:srgbClr val="FFFFFF"/>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ampoo_solido.png"/>
          <p:cNvPicPr>
            <a:picLocks noChangeAspect="1"/>
          </p:cNvPicPr>
          <p:nvPr/>
        </p:nvPicPr>
        <p:blipFill>
          <a:blip r:embed="rId2"/>
          <a:stretch>
            <a:fillRect/>
          </a:stretch>
        </p:blipFill>
        <p:spPr>
          <a:xfrm>
            <a:off x="6675120" y="1463040"/>
            <a:ext cx="4754880" cy="4297680"/>
          </a:xfrm>
          <a:prstGeom prst="rect">
            <a:avLst/>
          </a:prstGeom>
        </p:spPr>
      </p:pic>
      <p:sp>
        <p:nvSpPr>
          <p:cNvPr id="13" name="TextBox 12"/>
          <p:cNvSpPr txBox="1"/>
          <p:nvPr/>
        </p:nvSpPr>
        <p:spPr>
          <a:xfrm>
            <a:off x="6675120" y="5806440"/>
            <a:ext cx="4754880" cy="365760"/>
          </a:xfrm>
          <a:prstGeom prst="rect">
            <a:avLst/>
          </a:prstGeom>
          <a:noFill/>
        </p:spPr>
        <p:txBody>
          <a:bodyPr wrap="square">
            <a:spAutoFit/>
          </a:bodyPr>
          <a:lstStyle/>
          <a:p>
            <a:pPr algn="ctr">
              <a:defRPr sz="950" i="1">
                <a:solidFill>
                  <a:srgbClr val="0F241F"/>
                </a:solidFill>
                <a:latin typeface="Arial"/>
              </a:defRPr>
            </a:pPr>
            <a:r>
              <a:t>El Desafío: Encontrar productos de higiene y cuidado que sean honestos y saludables.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NUESTRA SOLUCIÓN</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EcoMarket: Compra Sencilla, Saludable y Transparente</a:t>
            </a:r>
          </a:p>
        </p:txBody>
      </p:sp>
      <p:sp>
        <p:nvSpPr>
          <p:cNvPr id="5" name="Rounded Rectangle 4"/>
          <p:cNvSpPr/>
          <p:nvPr/>
        </p:nvSpPr>
        <p:spPr>
          <a:xfrm>
            <a:off x="731520" y="146304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5212080" cy="1188720"/>
          </a:xfrm>
          <a:prstGeom prst="rect">
            <a:avLst/>
          </a:prstGeom>
          <a:noFill/>
        </p:spPr>
        <p:txBody>
          <a:bodyPr wrap="square">
            <a:spAutoFit/>
          </a:bodyPr>
          <a:lstStyle/>
          <a:p>
            <a:pPr>
              <a:defRPr sz="1400" b="1">
                <a:solidFill>
                  <a:srgbClr val="0F241F"/>
                </a:solidFill>
                <a:latin typeface="Arial"/>
              </a:defRPr>
            </a:pPr>
            <a:r>
              <a:t>1. Filtro Automático de Confianza</a:t>
            </a:r>
          </a:p>
          <a:p>
            <a:pPr>
              <a:spcBef>
                <a:spcPts val="600"/>
              </a:spcBef>
              <a:defRPr sz="1100">
                <a:solidFill>
                  <a:srgbClr val="2D3748"/>
                </a:solidFill>
                <a:latin typeface="Arial"/>
              </a:defRPr>
            </a:pPr>
            <a:r>
              <a:t>EcoMarket analiza y descifra los ingredientes de cada producto antes de ponerlo a la venta. Si un producto contiene químicos dañinos o alérgenos, el sistema lo detecta al instante.</a:t>
            </a:r>
          </a:p>
        </p:txBody>
      </p:sp>
      <p:sp>
        <p:nvSpPr>
          <p:cNvPr id="7" name="Rounded Rectangle 6"/>
          <p:cNvSpPr/>
          <p:nvPr/>
        </p:nvSpPr>
        <p:spPr>
          <a:xfrm>
            <a:off x="731520" y="310896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5212080" cy="1188720"/>
          </a:xfrm>
          <a:prstGeom prst="rect">
            <a:avLst/>
          </a:prstGeom>
          <a:noFill/>
        </p:spPr>
        <p:txBody>
          <a:bodyPr wrap="square">
            <a:spAutoFit/>
          </a:bodyPr>
          <a:lstStyle/>
          <a:p>
            <a:pPr>
              <a:defRPr sz="1400" b="1">
                <a:solidFill>
                  <a:srgbClr val="0F241F"/>
                </a:solidFill>
                <a:latin typeface="Arial"/>
              </a:defRPr>
            </a:pPr>
            <a:r>
              <a:t>2. Explicaciones Simples y Visuales</a:t>
            </a:r>
          </a:p>
          <a:p>
            <a:pPr>
              <a:spcBef>
                <a:spcPts val="600"/>
              </a:spcBef>
              <a:defRPr sz="1100">
                <a:solidFill>
                  <a:srgbClr val="2D3748"/>
                </a:solidFill>
                <a:latin typeface="Arial"/>
              </a:defRPr>
            </a:pPr>
            <a:r>
              <a:t>Traducimos la nomenclatura química a un lenguaje comprensible. Usamos un sistema visual de semáforo (Verde, Amarillo y Rojo) para que sepas qué tan seguro es el producto en 1 segundo.</a:t>
            </a:r>
          </a:p>
        </p:txBody>
      </p:sp>
      <p:sp>
        <p:nvSpPr>
          <p:cNvPr id="9" name="Rounded Rectangle 8"/>
          <p:cNvSpPr/>
          <p:nvPr/>
        </p:nvSpPr>
        <p:spPr>
          <a:xfrm>
            <a:off x="731520" y="475488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92040"/>
            <a:ext cx="5212080" cy="1188720"/>
          </a:xfrm>
          <a:prstGeom prst="rect">
            <a:avLst/>
          </a:prstGeom>
          <a:noFill/>
        </p:spPr>
        <p:txBody>
          <a:bodyPr wrap="square">
            <a:spAutoFit/>
          </a:bodyPr>
          <a:lstStyle/>
          <a:p>
            <a:pPr>
              <a:defRPr sz="1400" b="1">
                <a:solidFill>
                  <a:srgbClr val="0F241F"/>
                </a:solidFill>
                <a:latin typeface="Arial"/>
              </a:defRPr>
            </a:pPr>
            <a:r>
              <a:t>3. Comercio Local, Justo y Peruano</a:t>
            </a:r>
          </a:p>
          <a:p>
            <a:pPr>
              <a:spcBef>
                <a:spcPts val="600"/>
              </a:spcBef>
              <a:defRPr sz="1100">
                <a:solidFill>
                  <a:srgbClr val="2D3748"/>
                </a:solidFill>
                <a:latin typeface="Arial"/>
              </a:defRPr>
            </a:pPr>
            <a:r>
              <a:t>Conectamos a productores locales peruanos verificados con personas que buscan un estilo de vida saludable. Todo el catálogo se vende en Soles (PEN) y de forma 100% directa.</a:t>
            </a:r>
          </a:p>
        </p:txBody>
      </p:sp>
      <p:sp>
        <p:nvSpPr>
          <p:cNvPr id="11" name="Rectangle 10"/>
          <p:cNvSpPr/>
          <p:nvPr/>
        </p:nvSpPr>
        <p:spPr>
          <a:xfrm>
            <a:off x="6629400" y="1417320"/>
            <a:ext cx="4846320" cy="4389120"/>
          </a:xfrm>
          <a:prstGeom prst="rect">
            <a:avLst/>
          </a:prstGeom>
          <a:solidFill>
            <a:srgbClr val="FFFFFF"/>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jabon_avena.png"/>
          <p:cNvPicPr>
            <a:picLocks noChangeAspect="1"/>
          </p:cNvPicPr>
          <p:nvPr/>
        </p:nvPicPr>
        <p:blipFill>
          <a:blip r:embed="rId2"/>
          <a:stretch>
            <a:fillRect/>
          </a:stretch>
        </p:blipFill>
        <p:spPr>
          <a:xfrm>
            <a:off x="6675120" y="1463040"/>
            <a:ext cx="4754880" cy="4297680"/>
          </a:xfrm>
          <a:prstGeom prst="rect">
            <a:avLst/>
          </a:prstGeom>
        </p:spPr>
      </p:pic>
      <p:sp>
        <p:nvSpPr>
          <p:cNvPr id="13" name="TextBox 12"/>
          <p:cNvSpPr txBox="1"/>
          <p:nvPr/>
        </p:nvSpPr>
        <p:spPr>
          <a:xfrm>
            <a:off x="6675120" y="5806440"/>
            <a:ext cx="4754880" cy="365760"/>
          </a:xfrm>
          <a:prstGeom prst="rect">
            <a:avLst/>
          </a:prstGeom>
          <a:noFill/>
        </p:spPr>
        <p:txBody>
          <a:bodyPr wrap="square">
            <a:spAutoFit/>
          </a:bodyPr>
          <a:lstStyle/>
          <a:p>
            <a:pPr algn="ctr">
              <a:defRPr sz="950" i="1">
                <a:solidFill>
                  <a:srgbClr val="0F241F"/>
                </a:solidFill>
                <a:latin typeface="Arial"/>
              </a:defRPr>
            </a:pPr>
            <a:r>
              <a:t>La Promesa: Acceso directo a alternativas orgánicas verificadas y seguras.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LA EXPERIENCIA DEL USUARIO</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Comprar Sostenible nunca fue tan Fácil</a:t>
            </a:r>
          </a:p>
        </p:txBody>
      </p:sp>
      <p:sp>
        <p:nvSpPr>
          <p:cNvPr id="5" name="Rounded Rectangle 4"/>
          <p:cNvSpPr/>
          <p:nvPr/>
        </p:nvSpPr>
        <p:spPr>
          <a:xfrm>
            <a:off x="7315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3017520" cy="4023360"/>
          </a:xfrm>
          <a:prstGeom prst="rect">
            <a:avLst/>
          </a:prstGeom>
          <a:noFill/>
        </p:spPr>
        <p:txBody>
          <a:bodyPr wrap="square">
            <a:spAutoFit/>
          </a:bodyPr>
          <a:lstStyle/>
          <a:p>
            <a:pPr>
              <a:defRPr sz="1400" b="1">
                <a:solidFill>
                  <a:srgbClr val="0F241F"/>
                </a:solidFill>
                <a:latin typeface="Arial"/>
              </a:defRPr>
            </a:pPr>
            <a:r>
              <a:t>Paso 1: Explora el Catálogo</a:t>
            </a:r>
          </a:p>
          <a:p>
            <a:pPr>
              <a:spcBef>
                <a:spcPts val="600"/>
              </a:spcBef>
              <a:defRPr sz="1100">
                <a:solidFill>
                  <a:srgbClr val="2D3748"/>
                </a:solidFill>
                <a:latin typeface="Arial"/>
              </a:defRPr>
            </a:pPr>
            <a:r>
              <a:t>Navega cómodamente por categorías sencillas que cubren tus necesidades cotidianas:</a:t>
            </a:r>
            <a:br/>
            <a:br/>
            <a:r>
              <a:t>• Cuidado Personal (champús, desodorantes, cremas)</a:t>
            </a:r>
            <a:br/>
            <a:r>
              <a:t>• Alimentación Orgánica (aceites, harinas, té)</a:t>
            </a:r>
            <a:br/>
            <a:r>
              <a:t>• Limpieza del Hogar (detergentes biodegradables)</a:t>
            </a:r>
            <a:br/>
            <a:r>
              <a:t>• Hogar Eco (cepillos de bambú, bolsas de tela)</a:t>
            </a:r>
          </a:p>
        </p:txBody>
      </p:sp>
      <p:sp>
        <p:nvSpPr>
          <p:cNvPr id="7" name="Rounded Rectangle 6"/>
          <p:cNvSpPr/>
          <p:nvPr/>
        </p:nvSpPr>
        <p:spPr>
          <a:xfrm>
            <a:off x="4389120" y="1645920"/>
            <a:ext cx="3291840" cy="4297680"/>
          </a:xfrm>
          <a:prstGeom prst="roundRect">
            <a:avLst/>
          </a:prstGeom>
          <a:solidFill>
            <a:srgbClr val="FFFFFF"/>
          </a:solidFill>
          <a:ln w="19050">
            <a:solidFill>
              <a:srgbClr val="2E75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83080"/>
            <a:ext cx="3017520" cy="4023360"/>
          </a:xfrm>
          <a:prstGeom prst="rect">
            <a:avLst/>
          </a:prstGeom>
          <a:noFill/>
        </p:spPr>
        <p:txBody>
          <a:bodyPr wrap="square">
            <a:spAutoFit/>
          </a:bodyPr>
          <a:lstStyle/>
          <a:p>
            <a:pPr>
              <a:defRPr sz="1400" b="1">
                <a:solidFill>
                  <a:srgbClr val="0F241F"/>
                </a:solidFill>
                <a:latin typeface="Arial"/>
              </a:defRPr>
            </a:pPr>
            <a:r>
              <a:t>Paso 2: Conoce tu Producto (Semáforo)</a:t>
            </a:r>
          </a:p>
          <a:p>
            <a:pPr>
              <a:spcBef>
                <a:spcPts val="600"/>
              </a:spcBef>
              <a:defRPr sz="1100">
                <a:solidFill>
                  <a:srgbClr val="2D3748"/>
                </a:solidFill>
                <a:latin typeface="Arial"/>
              </a:defRPr>
            </a:pPr>
            <a:r>
              <a:t>Entra al detalle de cualquier producto y descubre el desglose interactivo de sus ingredientes:</a:t>
            </a:r>
            <a:br/>
            <a:br/>
            <a:r>
              <a:t>🟢 Verde (Seguro): Ingredientes amigables con tu cuerpo.</a:t>
            </a:r>
            <a:br/>
            <a:r>
              <a:t>🟡 Amarillo (Precaución): Ingredientes aceptables con restricciones.</a:t>
            </a:r>
            <a:br/>
            <a:r>
              <a:t>🔴 Rojo (Peligro): Contiene alérgenos o químicos cuestionables.</a:t>
            </a:r>
            <a:br/>
            <a:br/>
            <a:r>
              <a:t>¡Tomas decisiones informadas para tu salud familiar!</a:t>
            </a:r>
          </a:p>
        </p:txBody>
      </p:sp>
      <p:sp>
        <p:nvSpPr>
          <p:cNvPr id="9" name="Rounded Rectangle 8"/>
          <p:cNvSpPr/>
          <p:nvPr/>
        </p:nvSpPr>
        <p:spPr>
          <a:xfrm>
            <a:off x="8046720" y="1645920"/>
            <a:ext cx="3291840" cy="4297680"/>
          </a:xfrm>
          <a:prstGeom prst="roundRect">
            <a:avLst/>
          </a:prstGeom>
          <a:solidFill>
            <a:srgbClr val="0F241F"/>
          </a:solidFill>
          <a:ln w="1905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783080"/>
            <a:ext cx="3017520" cy="4023360"/>
          </a:xfrm>
          <a:prstGeom prst="rect">
            <a:avLst/>
          </a:prstGeom>
          <a:noFill/>
        </p:spPr>
        <p:txBody>
          <a:bodyPr wrap="square">
            <a:spAutoFit/>
          </a:bodyPr>
          <a:lstStyle/>
          <a:p>
            <a:pPr>
              <a:defRPr sz="1400" b="1">
                <a:solidFill>
                  <a:srgbClr val="F2C94C"/>
                </a:solidFill>
                <a:latin typeface="Arial"/>
              </a:defRPr>
            </a:pPr>
            <a:r>
              <a:t>Paso 3: Paga a tu Manera (Local)</a:t>
            </a:r>
          </a:p>
          <a:p>
            <a:pPr>
              <a:spcBef>
                <a:spcPts val="600"/>
              </a:spcBef>
              <a:defRPr sz="1100">
                <a:solidFill>
                  <a:srgbClr val="F7F5F0"/>
                </a:solidFill>
                <a:latin typeface="Arial"/>
              </a:defRPr>
            </a:pPr>
            <a:r>
              <a:t>Compra en segundos utilizando tus métodos de pago favoritos en el Perú:</a:t>
            </a:r>
            <a:br/>
            <a:br/>
            <a:r>
              <a:t>• Yape (Código QR y validación OTP segura)</a:t>
            </a:r>
            <a:br/>
            <a:r>
              <a:t>• Plin (Código QR rápido)</a:t>
            </a:r>
            <a:br/>
            <a:r>
              <a:t>• TuPay (Código de transferencia bancaria)</a:t>
            </a:r>
            <a:br/>
            <a:r>
              <a:t>• Tarjetas de Crédito y Débito (Visa, Mastercard, AMEX)</a:t>
            </a:r>
            <a:br/>
            <a:br/>
            <a:r>
              <a:t>Recibe tu pedido de forma directa y rastrea tus compras.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APOYO AL PRODUCTOR PERUANO</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Impulsando el Crecimiento de Emprendedores Verdes</a:t>
            </a:r>
          </a:p>
        </p:txBody>
      </p:sp>
      <p:sp>
        <p:nvSpPr>
          <p:cNvPr id="5" name="Rounded Rectangle 4"/>
          <p:cNvSpPr/>
          <p:nvPr/>
        </p:nvSpPr>
        <p:spPr>
          <a:xfrm>
            <a:off x="731520" y="164592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4846320" cy="1737360"/>
          </a:xfrm>
          <a:prstGeom prst="rect">
            <a:avLst/>
          </a:prstGeom>
          <a:noFill/>
        </p:spPr>
        <p:txBody>
          <a:bodyPr wrap="square">
            <a:spAutoFit/>
          </a:bodyPr>
          <a:lstStyle/>
          <a:p>
            <a:pPr>
              <a:defRPr sz="1400" b="1">
                <a:solidFill>
                  <a:srgbClr val="0F241F"/>
                </a:solidFill>
                <a:latin typeface="Arial"/>
              </a:defRPr>
            </a:pPr>
            <a:r>
              <a:t>A. Registro y Validación de Confianza</a:t>
            </a:r>
          </a:p>
          <a:p>
            <a:pPr>
              <a:spcBef>
                <a:spcPts val="600"/>
              </a:spcBef>
              <a:defRPr sz="1100">
                <a:solidFill>
                  <a:srgbClr val="2D3748"/>
                </a:solidFill>
                <a:latin typeface="Arial"/>
              </a:defRPr>
            </a:pPr>
            <a:r>
              <a:t>• El productor se registra de manera sencilla ingresando su RUC y sus datos comerciales.</a:t>
            </a:r>
            <a:br/>
            <a:r>
              <a:t>• El sistema verifica automáticamente la validez de su negocio ante la SUNAT.</a:t>
            </a:r>
            <a:br/>
            <a:r>
              <a:t>• Permite cargar certificados de agricultura orgánica y productos libres de crueldad animal.</a:t>
            </a:r>
          </a:p>
        </p:txBody>
      </p:sp>
      <p:sp>
        <p:nvSpPr>
          <p:cNvPr id="7" name="Rounded Rectangle 6"/>
          <p:cNvSpPr/>
          <p:nvPr/>
        </p:nvSpPr>
        <p:spPr>
          <a:xfrm>
            <a:off x="6217920" y="164592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83080"/>
            <a:ext cx="4846320" cy="1737360"/>
          </a:xfrm>
          <a:prstGeom prst="rect">
            <a:avLst/>
          </a:prstGeom>
          <a:noFill/>
        </p:spPr>
        <p:txBody>
          <a:bodyPr wrap="square">
            <a:spAutoFit/>
          </a:bodyPr>
          <a:lstStyle/>
          <a:p>
            <a:pPr>
              <a:defRPr sz="1400" b="1">
                <a:solidFill>
                  <a:srgbClr val="0F241F"/>
                </a:solidFill>
                <a:latin typeface="Arial"/>
              </a:defRPr>
            </a:pPr>
            <a:r>
              <a:t>B. Publicación Guiada de Productos</a:t>
            </a:r>
          </a:p>
          <a:p>
            <a:pPr>
              <a:spcBef>
                <a:spcPts val="600"/>
              </a:spcBef>
              <a:defRPr sz="1100">
                <a:solidFill>
                  <a:srgbClr val="2D3748"/>
                </a:solidFill>
                <a:latin typeface="Arial"/>
              </a:defRPr>
            </a:pPr>
            <a:r>
              <a:t>• El productor sube su catálogo ingresando el precio en Soles (PEN) y el stock físico.</a:t>
            </a:r>
            <a:br/>
            <a:r>
              <a:t>• Ingresa la lista de ingredientes tal como aparece en su etiqueta física.</a:t>
            </a:r>
            <a:br/>
            <a:r>
              <a:t>• El sistema analiza los compuestos y genera la ficha transparente de forma automática.</a:t>
            </a:r>
          </a:p>
        </p:txBody>
      </p:sp>
      <p:sp>
        <p:nvSpPr>
          <p:cNvPr id="9" name="Rounded Rectangle 8"/>
          <p:cNvSpPr/>
          <p:nvPr/>
        </p:nvSpPr>
        <p:spPr>
          <a:xfrm>
            <a:off x="731520" y="393192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69080"/>
            <a:ext cx="4846320" cy="1737360"/>
          </a:xfrm>
          <a:prstGeom prst="rect">
            <a:avLst/>
          </a:prstGeom>
          <a:noFill/>
        </p:spPr>
        <p:txBody>
          <a:bodyPr wrap="square">
            <a:spAutoFit/>
          </a:bodyPr>
          <a:lstStyle/>
          <a:p>
            <a:pPr>
              <a:defRPr sz="1400" b="1">
                <a:solidFill>
                  <a:srgbClr val="0F241F"/>
                </a:solidFill>
                <a:latin typeface="Arial"/>
              </a:defRPr>
            </a:pPr>
            <a:r>
              <a:t>C. Ventas Directas sin Intermediarios</a:t>
            </a:r>
          </a:p>
          <a:p>
            <a:pPr>
              <a:spcBef>
                <a:spcPts val="600"/>
              </a:spcBef>
              <a:defRPr sz="1100">
                <a:solidFill>
                  <a:srgbClr val="2D3748"/>
                </a:solidFill>
                <a:latin typeface="Arial"/>
              </a:defRPr>
            </a:pPr>
            <a:r>
              <a:t>• Conecta al productor directamente con miles de compradores interesados.</a:t>
            </a:r>
            <a:br/>
            <a:r>
              <a:t>• Reduce los sobrecostos de las grandes cadenas de supermercados, logrando un precio justo tanto para quien vende como para quien compra.</a:t>
            </a:r>
          </a:p>
        </p:txBody>
      </p:sp>
      <p:sp>
        <p:nvSpPr>
          <p:cNvPr id="11" name="Rounded Rectangle 10"/>
          <p:cNvSpPr/>
          <p:nvPr/>
        </p:nvSpPr>
        <p:spPr>
          <a:xfrm>
            <a:off x="6217920" y="393192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069080"/>
            <a:ext cx="4846320" cy="1737360"/>
          </a:xfrm>
          <a:prstGeom prst="rect">
            <a:avLst/>
          </a:prstGeom>
          <a:noFill/>
        </p:spPr>
        <p:txBody>
          <a:bodyPr wrap="square">
            <a:spAutoFit/>
          </a:bodyPr>
          <a:lstStyle/>
          <a:p>
            <a:pPr>
              <a:defRPr sz="1400" b="1">
                <a:solidFill>
                  <a:srgbClr val="0F241F"/>
                </a:solidFill>
                <a:latin typeface="Arial"/>
              </a:defRPr>
            </a:pPr>
            <a:r>
              <a:t>D. Panel del Productor Intuitivo</a:t>
            </a:r>
          </a:p>
          <a:p>
            <a:pPr>
              <a:spcBef>
                <a:spcPts val="600"/>
              </a:spcBef>
              <a:defRPr sz="1100">
                <a:solidFill>
                  <a:srgbClr val="2D3748"/>
                </a:solidFill>
                <a:latin typeface="Arial"/>
              </a:defRPr>
            </a:pPr>
            <a:r>
              <a:t>• Una herramienta fácil de usar para monitorear el stock, actualizar precios y gestionar los envíos a los clientes.</a:t>
            </a:r>
            <a:br/>
            <a:r>
              <a:t>• Estadísticas sencillas para ver cuáles son los productos favoritos de la comunidad ecológica.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CONTROL Y TRANSPARENCIA</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El Panel Administrativo: Protegiendo a la Comunidad</a:t>
            </a:r>
          </a:p>
        </p:txBody>
      </p:sp>
      <p:sp>
        <p:nvSpPr>
          <p:cNvPr id="5" name="Rounded Rectangle 4"/>
          <p:cNvSpPr/>
          <p:nvPr/>
        </p:nvSpPr>
        <p:spPr>
          <a:xfrm>
            <a:off x="731520" y="146304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5212080" cy="1188720"/>
          </a:xfrm>
          <a:prstGeom prst="rect">
            <a:avLst/>
          </a:prstGeom>
          <a:noFill/>
        </p:spPr>
        <p:txBody>
          <a:bodyPr wrap="square">
            <a:spAutoFit/>
          </a:bodyPr>
          <a:lstStyle/>
          <a:p>
            <a:pPr>
              <a:defRPr sz="1400" b="1">
                <a:solidFill>
                  <a:srgbClr val="0F241F"/>
                </a:solidFill>
                <a:latin typeface="Arial"/>
              </a:defRPr>
            </a:pPr>
            <a:r>
              <a:t>1. Verificación de Tiendas y Productores</a:t>
            </a:r>
          </a:p>
          <a:p>
            <a:pPr>
              <a:spcBef>
                <a:spcPts val="600"/>
              </a:spcBef>
              <a:defRPr sz="1100">
                <a:solidFill>
                  <a:srgbClr val="2D3748"/>
                </a:solidFill>
                <a:latin typeface="Arial"/>
              </a:defRPr>
            </a:pPr>
            <a:r>
              <a:t>El equipo administrativo revisa a cada productor antes de habilitarlo en la tienda, asegurando que los negocios sean reales, formales y comprometidos con el medio ambiente.</a:t>
            </a:r>
          </a:p>
        </p:txBody>
      </p:sp>
      <p:sp>
        <p:nvSpPr>
          <p:cNvPr id="7" name="Rounded Rectangle 6"/>
          <p:cNvSpPr/>
          <p:nvPr/>
        </p:nvSpPr>
        <p:spPr>
          <a:xfrm>
            <a:off x="731520" y="310896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5212080" cy="1188720"/>
          </a:xfrm>
          <a:prstGeom prst="rect">
            <a:avLst/>
          </a:prstGeom>
          <a:noFill/>
        </p:spPr>
        <p:txBody>
          <a:bodyPr wrap="square">
            <a:spAutoFit/>
          </a:bodyPr>
          <a:lstStyle/>
          <a:p>
            <a:pPr>
              <a:defRPr sz="1400" b="1">
                <a:solidFill>
                  <a:srgbClr val="0F241F"/>
                </a:solidFill>
                <a:latin typeface="Arial"/>
              </a:defRPr>
            </a:pPr>
            <a:r>
              <a:t>2. Control de Alertas e Ingredientes Nocivos</a:t>
            </a:r>
          </a:p>
          <a:p>
            <a:pPr>
              <a:spcBef>
                <a:spcPts val="600"/>
              </a:spcBef>
              <a:defRPr sz="1100">
                <a:solidFill>
                  <a:srgbClr val="2D3748"/>
                </a:solidFill>
                <a:latin typeface="Arial"/>
              </a:defRPr>
            </a:pPr>
            <a:r>
              <a:t>Si un producto ingresado contiene algún químico dañino o sospechoso, el panel administrativo recibe una alerta inmediata para retirar el producto del catálogo o exigir aclaraciones al fabricante.</a:t>
            </a:r>
          </a:p>
        </p:txBody>
      </p:sp>
      <p:sp>
        <p:nvSpPr>
          <p:cNvPr id="9" name="Rounded Rectangle 8"/>
          <p:cNvSpPr/>
          <p:nvPr/>
        </p:nvSpPr>
        <p:spPr>
          <a:xfrm>
            <a:off x="731520" y="475488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92040"/>
            <a:ext cx="5212080" cy="1188720"/>
          </a:xfrm>
          <a:prstGeom prst="rect">
            <a:avLst/>
          </a:prstGeom>
          <a:noFill/>
        </p:spPr>
        <p:txBody>
          <a:bodyPr wrap="square">
            <a:spAutoFit/>
          </a:bodyPr>
          <a:lstStyle/>
          <a:p>
            <a:pPr>
              <a:defRPr sz="1400" b="1">
                <a:solidFill>
                  <a:srgbClr val="0F241F"/>
                </a:solidFill>
                <a:latin typeface="Arial"/>
              </a:defRPr>
            </a:pPr>
            <a:r>
              <a:t>3. Historial de Auditorías Protegido</a:t>
            </a:r>
          </a:p>
          <a:p>
            <a:pPr>
              <a:spcBef>
                <a:spcPts val="600"/>
              </a:spcBef>
              <a:defRPr sz="1100">
                <a:solidFill>
                  <a:srgbClr val="2D3748"/>
                </a:solidFill>
                <a:latin typeface="Arial"/>
              </a:defRPr>
            </a:pPr>
            <a:r>
              <a:t>Cada análisis de ingredientes se almacena con un registro de seguridad permanente. Esto garantiza que una marca no pueda cambiar la fórmula de un producto aprobado sin pasar por una nueva verificación.</a:t>
            </a:r>
          </a:p>
        </p:txBody>
      </p:sp>
      <p:sp>
        <p:nvSpPr>
          <p:cNvPr id="11" name="Rectangle 10"/>
          <p:cNvSpPr/>
          <p:nvPr/>
        </p:nvSpPr>
        <p:spPr>
          <a:xfrm>
            <a:off x="6629400" y="1417320"/>
            <a:ext cx="4846320" cy="4389120"/>
          </a:xfrm>
          <a:prstGeom prst="rect">
            <a:avLst/>
          </a:prstGeom>
          <a:solidFill>
            <a:srgbClr val="FFFFFF"/>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epillo_bambu.png"/>
          <p:cNvPicPr>
            <a:picLocks noChangeAspect="1"/>
          </p:cNvPicPr>
          <p:nvPr/>
        </p:nvPicPr>
        <p:blipFill>
          <a:blip r:embed="rId2"/>
          <a:stretch>
            <a:fillRect/>
          </a:stretch>
        </p:blipFill>
        <p:spPr>
          <a:xfrm>
            <a:off x="6675120" y="1463040"/>
            <a:ext cx="4754880" cy="4297680"/>
          </a:xfrm>
          <a:prstGeom prst="rect">
            <a:avLst/>
          </a:prstGeom>
        </p:spPr>
      </p:pic>
      <p:sp>
        <p:nvSpPr>
          <p:cNvPr id="13" name="TextBox 12"/>
          <p:cNvSpPr txBox="1"/>
          <p:nvPr/>
        </p:nvSpPr>
        <p:spPr>
          <a:xfrm>
            <a:off x="6675120" y="5806440"/>
            <a:ext cx="4754880" cy="365760"/>
          </a:xfrm>
          <a:prstGeom prst="rect">
            <a:avLst/>
          </a:prstGeom>
          <a:noFill/>
        </p:spPr>
        <p:txBody>
          <a:bodyPr wrap="square">
            <a:spAutoFit/>
          </a:bodyPr>
          <a:lstStyle/>
          <a:p>
            <a:pPr algn="ctr">
              <a:defRPr sz="950" i="1">
                <a:solidFill>
                  <a:srgbClr val="0F241F"/>
                </a:solidFill>
                <a:latin typeface="Arial"/>
              </a:defRPr>
            </a:pPr>
            <a:r>
              <a:t>Garantía EcoMarket: Supervisión activa para evitar el fraude ecológico.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IMPACTO COLECTIVO</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Un Futuro más Saludable y Consciente</a:t>
            </a:r>
          </a:p>
        </p:txBody>
      </p:sp>
      <p:sp>
        <p:nvSpPr>
          <p:cNvPr id="5" name="Rounded Rectangle 4"/>
          <p:cNvSpPr/>
          <p:nvPr/>
        </p:nvSpPr>
        <p:spPr>
          <a:xfrm>
            <a:off x="7315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3017520" cy="4023360"/>
          </a:xfrm>
          <a:prstGeom prst="rect">
            <a:avLst/>
          </a:prstGeom>
          <a:noFill/>
        </p:spPr>
        <p:txBody>
          <a:bodyPr wrap="square">
            <a:spAutoFit/>
          </a:bodyPr>
          <a:lstStyle/>
          <a:p>
            <a:pPr>
              <a:defRPr sz="1400" b="1">
                <a:solidFill>
                  <a:srgbClr val="0F241F"/>
                </a:solidFill>
                <a:latin typeface="Arial"/>
              </a:defRPr>
            </a:pPr>
            <a:r>
              <a:t>🌿 Bienestar Familiar</a:t>
            </a:r>
          </a:p>
          <a:p>
            <a:pPr>
              <a:spcBef>
                <a:spcPts val="600"/>
              </a:spcBef>
              <a:defRPr sz="1100">
                <a:solidFill>
                  <a:srgbClr val="2D3748"/>
                </a:solidFill>
                <a:latin typeface="Arial"/>
              </a:defRPr>
            </a:pPr>
            <a:r>
              <a:t>• Cuidado de la salud: Reducción drástica del contacto diario con disruptores endocrinos y químicos irritantes.</a:t>
            </a:r>
            <a:br/>
            <a:br/>
            <a:r>
              <a:t>• Hábitos limpios: Facilita que las familias peruanas compren productos seguros y transparentes para bebés, niños y adultos sin necesidad de ser expertos en química.</a:t>
            </a:r>
          </a:p>
        </p:txBody>
      </p:sp>
      <p:sp>
        <p:nvSpPr>
          <p:cNvPr id="7" name="Rounded Rectangle 6"/>
          <p:cNvSpPr/>
          <p:nvPr/>
        </p:nvSpPr>
        <p:spPr>
          <a:xfrm>
            <a:off x="43891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83080"/>
            <a:ext cx="3017520" cy="4023360"/>
          </a:xfrm>
          <a:prstGeom prst="rect">
            <a:avLst/>
          </a:prstGeom>
          <a:noFill/>
        </p:spPr>
        <p:txBody>
          <a:bodyPr wrap="square">
            <a:spAutoFit/>
          </a:bodyPr>
          <a:lstStyle/>
          <a:p>
            <a:pPr>
              <a:defRPr sz="1400" b="1">
                <a:solidFill>
                  <a:srgbClr val="0F241F"/>
                </a:solidFill>
                <a:latin typeface="Arial"/>
              </a:defRPr>
            </a:pPr>
            <a:r>
              <a:t>🌎 Cuidado del Planeta</a:t>
            </a:r>
          </a:p>
          <a:p>
            <a:pPr>
              <a:spcBef>
                <a:spcPts val="600"/>
              </a:spcBef>
              <a:defRPr sz="1100">
                <a:solidFill>
                  <a:srgbClr val="2D3748"/>
                </a:solidFill>
                <a:latin typeface="Arial"/>
              </a:defRPr>
            </a:pPr>
            <a:r>
              <a:t>• Fomento de empaques eco-amigables: Champús sólidos, cepillos de madera biodegradable y productos libres de plástico.</a:t>
            </a:r>
            <a:br/>
            <a:br/>
            <a:r>
              <a:t>• Fórmulas limpias: Ingredientes biodegradables que no contaminan el agua ni los suelos al desecharse por el desagüe.</a:t>
            </a:r>
          </a:p>
        </p:txBody>
      </p:sp>
      <p:sp>
        <p:nvSpPr>
          <p:cNvPr id="9" name="Rounded Rectangle 8"/>
          <p:cNvSpPr/>
          <p:nvPr/>
        </p:nvSpPr>
        <p:spPr>
          <a:xfrm>
            <a:off x="80467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783080"/>
            <a:ext cx="3017520" cy="4023360"/>
          </a:xfrm>
          <a:prstGeom prst="rect">
            <a:avLst/>
          </a:prstGeom>
          <a:noFill/>
        </p:spPr>
        <p:txBody>
          <a:bodyPr wrap="square">
            <a:spAutoFit/>
          </a:bodyPr>
          <a:lstStyle/>
          <a:p>
            <a:pPr>
              <a:defRPr sz="1400" b="1">
                <a:solidFill>
                  <a:srgbClr val="0F241F"/>
                </a:solidFill>
                <a:latin typeface="Arial"/>
              </a:defRPr>
            </a:pPr>
            <a:r>
              <a:t>🇵🇪 Impulso a la Economía Local</a:t>
            </a:r>
          </a:p>
          <a:p>
            <a:pPr>
              <a:spcBef>
                <a:spcPts val="600"/>
              </a:spcBef>
              <a:defRPr sz="1100">
                <a:solidFill>
                  <a:srgbClr val="2D3748"/>
                </a:solidFill>
                <a:latin typeface="Arial"/>
              </a:defRPr>
            </a:pPr>
            <a:r>
              <a:t>• Apoyo directo: Empoderamiento de artesanos y productores locales peruanos de regiones agrícolas y andinas.</a:t>
            </a:r>
            <a:br/>
            <a:br/>
            <a:r>
              <a:t>• Comercio Justo: Dinamización del mercado nacional a través de transacciones accesibles y seguras con Yape, Plin y bancos locales.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