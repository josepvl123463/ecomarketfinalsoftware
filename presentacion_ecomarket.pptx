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36576" cy="68580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74C69D"/>
                </a:solidFill>
                <a:latin typeface="Georgia"/>
              </a:defRPr>
            </a:pPr>
            <a:r>
              <a:t>EcoMarket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El Marketplace Sostenible de Confianza Ética</a:t>
            </a:r>
          </a:p>
          <a:p>
            <a:pPr>
              <a:spcBef>
                <a:spcPts val="1400"/>
              </a:spcBef>
              <a:defRPr sz="1600">
                <a:solidFill>
                  <a:srgbClr val="F2C94C"/>
                </a:solidFill>
                <a:latin typeface="Arial"/>
              </a:defRPr>
            </a:pPr>
            <a:r>
              <a:t>Auditoría Química Automatizada con IA (NLP) e Historial Ledger Inmutable contra el Greenwashing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rial"/>
              </a:defRPr>
            </a:pPr>
            <a:r>
              <a:t>Expositor: Josep Vladimir Garate Quispe</a:t>
            </a:r>
          </a:p>
          <a:p>
            <a:pPr>
              <a:spcBef>
                <a:spcPts val="400"/>
              </a:spcBef>
              <a:defRPr sz="1300">
                <a:solidFill>
                  <a:srgbClr val="74C69D"/>
                </a:solidFill>
                <a:latin typeface="Arial"/>
              </a:defRPr>
            </a:pPr>
            <a:r>
              <a:t>Desarrollo de Software Integrado y Arquitectura de Sistemas Distribuidos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EL DESAFÍO ECOLÓGICO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¿Qué Soluciona? El Problema del Greenwashing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1. Greenwashing y Fraude de Marketing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Las empresas aprovechan vacíos legales para etiquetar productos como 'orgánicos' o 'naturales' sin respaldo científico real, engañando a más del 65% de los compradores éticos.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2. Opacidad Química de Nomenclatura INCI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La lista de ingredientes (INCI) usa términos técnicos indescifrables. El consumidor común no puede identificar disruptores endocrinos, microplásticos o conservantes nocivos.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3. Falta de Trazabilidad e Historiales Mutables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Los reportes de auditoría ecológica tradicionales residen en servidores centrales y bases de datos mutables, donde los productores pueden alterar datos a posteriori sin dejar rastro.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4846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ampoo_sol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0F241F"/>
                </a:solidFill>
                <a:latin typeface="Arial"/>
              </a:defRPr>
            </a:pPr>
            <a:r>
              <a:t>Muestra del catálogo: Productos de higiene íntima expuestos a greenwashing.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PLATAFORMA SOSTENIBLE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¿Qué Hace EcoMarket? Confianza Ecológica Automatizada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1. Conexión de Comercio Justo y Local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EcoMarket es un marketplace centralizado que conecta directamente a productores ecológicos verificados con consumidores conscientes, impulsando el comercio local en Soles (PEN).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2. Motor de IA para Auditoría Química (INCI)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Un motor NLP avanzado descompone y califica instantáneamente los ingredientes declarados. Identifica y destaca alérgenos, parabenos y derivados de hidrocarburos.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3. Libro de Registro Inmutable (Ledger)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Garantiza la trazabilidad cifrada e histórica del producto. Si la composición química cambia, se genera una alerta inmediata. La 'huella ecológica' queda grabada de forma imborrable.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4846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jabon_av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0F241F"/>
                </a:solidFill>
                <a:latin typeface="Arial"/>
              </a:defRPr>
            </a:pPr>
            <a:r>
              <a:t>Garantía de Confianza: Productos con certificado químico verificado por 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Ecosistema Modular de Microservicios Distribuidos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03120" cy="1645920"/>
          </a:xfrm>
          <a:prstGeom prst="roundRect">
            <a:avLst/>
          </a:prstGeom>
          <a:solidFill>
            <a:srgbClr val="1A3C34"/>
          </a:solidFill>
          <a:ln w="190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  <a:latin typeface="Arial"/>
              </a:defRPr>
            </a:pPr>
            <a:r>
              <a:t>Frontend Next.js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t>• React SPA moderna</a:t>
            </a:r>
            <a:br/>
            <a:r>
              <a:t>• Panel Administrativo</a:t>
            </a:r>
            <a:br/>
            <a:r>
              <a:t>• Gráficos dinámicos</a:t>
            </a:r>
            <a:br/>
            <a:r>
              <a:t>• Semáforo de Toxicidad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18288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1554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API Gateway (Kong)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Puerto único: 8000</a:t>
            </a:r>
            <a:br/>
            <a:br/>
            <a:r>
              <a:t>• Enrutamiento dinámico a microservicios</a:t>
            </a:r>
            <a:br/>
            <a:br/>
            <a:r>
              <a:t>• Autenticación unificada</a:t>
            </a:r>
            <a:br/>
            <a:br/>
            <a:r>
              <a:t>• TLS/SSL y seguridad perimetral</a:t>
            </a:r>
            <a:br/>
            <a:br/>
            <a:r>
              <a:t>• Rate Limiting y monitoreo de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377440"/>
            <a:ext cx="457200" cy="9144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926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783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Servicios Core (Spring Boot)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auth-service (Puerto 8081): Controla la autenticación JWT y roles.</a:t>
            </a:r>
            <a:br/>
            <a:r>
              <a:t>• product-service (Puerto 8082): Gestiona stock y catálogo principal en Postgres.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840480"/>
            <a:ext cx="2926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39776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Servicios de Valor (Python/Node)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ai-engine (Puerto 8085 - FastAPI): Algoritmos NLP para análisis de ingredientes.</a:t>
            </a:r>
            <a:br/>
            <a:r>
              <a:t>• audit-service (Puerto 8084): Administra la inmutabilidad y registros históricos.</a:t>
            </a:r>
            <a:br/>
            <a:r>
              <a:t>• payment-service (Node/Soles): Pasarela local (Yape/Plin/Tarjetas).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377440"/>
            <a:ext cx="457200" cy="7315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4572000"/>
            <a:ext cx="457200" cy="7315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60320" cy="4297680"/>
          </a:xfrm>
          <a:prstGeom prst="roundRect">
            <a:avLst/>
          </a:prstGeom>
          <a:solidFill>
            <a:srgbClr val="0F241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830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4C69D"/>
                </a:solidFill>
                <a:latin typeface="Arial"/>
              </a:defRPr>
            </a:pPr>
            <a:r>
              <a:t>Capa de Datos</a:t>
            </a:r>
          </a:p>
          <a:p>
            <a:pPr>
              <a:spcBef>
                <a:spcPts val="600"/>
              </a:spcBef>
              <a:defRPr sz="1000">
                <a:solidFill>
                  <a:srgbClr val="F7F5F0"/>
                </a:solidFill>
                <a:latin typeface="Arial"/>
              </a:defRPr>
            </a:pPr>
            <a:r>
              <a:t>• PostgreSQL: Persistencia relacional de usuarios, catálogo e inventario general.</a:t>
            </a:r>
            <a:br/>
            <a:br/>
            <a:r>
              <a:t>• MongoDB: Almacén documental para glosario INCI y reportes analíticos de IA.</a:t>
            </a:r>
            <a:br/>
            <a:br/>
            <a:r>
              <a:t>• Redis: Caché de alta velocidad para sesiones y listados web.</a:t>
            </a:r>
            <a:br/>
            <a:br/>
            <a:r>
              <a:t>• Ledger (Amazon QLDB): Criptografía inmutable para registros forenses.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377440"/>
            <a:ext cx="457200" cy="73152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4572000"/>
            <a:ext cx="457200" cy="73152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INFRAESTRUCTURA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Capa de Datos Multi-Modelo y Trazabilidad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PostgreSQL - Datos Estructurados Relacionales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Rol Principal: Servidor centralizado para entidades con relaciones fuertes.</a:t>
            </a:r>
            <a:br/>
            <a:r>
              <a:t>• Entidades: Clientes, Productores ecológicos, transacciones financieras en Soles (PEN) y pasarelas de pago.</a:t>
            </a:r>
            <a:br/>
            <a:r>
              <a:t>• Integridad Referencial: Garantiza consistencia absoluta y transacciones ACID en el core del negocio.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MongoDB - Base Documental de Reportes Químicos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Rol Principal: Almacenamiento ágil de datos semiestructurados complejos.</a:t>
            </a:r>
            <a:br/>
            <a:r>
              <a:t>• Datos: Listas INCI extensas, taxonomías de compuestos químicos y el glosario de toxicidad ecológica nacional.</a:t>
            </a:r>
            <a:br/>
            <a:r>
              <a:t>• Ventaja: Consultas y desgloses masivos de ingredientes sin esquemas rígidos.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Redis - Caché en Memoria y Sesiones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Rol Principal: Optimización de rendimiento a través de caché llave-valor.</a:t>
            </a:r>
            <a:br/>
            <a:r>
              <a:t>• Datos: Sesiones JWT activas de usuarios y el catálogo de productos auditados más consultado.</a:t>
            </a:r>
            <a:br/>
            <a:r>
              <a:t>• Impacto: Reduce en más del 80% las consultas directas a disco, garantizando tiempos de respuesta &lt;50ms.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QLDB Ledger - Libro Mayor Criptográfico e Inmutable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• Rol Principal: Trazabilidad forense contra Greenwashing y manipulación.</a:t>
            </a:r>
            <a:br/>
            <a:r>
              <a:t>• Datos: Hashes sha256 y diario de cambios de cada auditoría de ingredientes.</a:t>
            </a:r>
            <a:br/>
            <a:r>
              <a:t>• Ventaja: Libro con encadenamiento de bloques hashing. Ningún usuario o administrador puede borrar el historial químico de un producto.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FLUJO DEL MOTOR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Ciclo de Auditoría Química e Integración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Paso 1: Declaración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El productor ingresa los datos básicos del producto ecológico y sube de forma obligatoria la lista oficial de componentes en formato estándar INCI.</a:t>
            </a:r>
            <a:br/>
            <a:br/>
            <a:r>
              <a:t>Ejemplo:</a:t>
            </a:r>
            <a:br/>
            <a:r>
              <a:t>'Aqua, Glycerin, Lauryl Sulfate, Phenoxyethanol'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Paso 2: Análisis NLP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El microservicio 'ai-engine' (Python FastAPI) recibe la lista INCI. Mediante Procesamiento de Lenguaje Natural (NLP), descompone cada elemento y consulta la base de datos de toxicidad, analizando alérgenos, parabenos y derivados del petróleo.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Paso 3: Sello Inmutable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El 'audit-service' genera el veredicto final ecológico. Dicho veredicto se registra de forma inmutable y con firma criptográfica en el Ledger. Si la fórmula física cambia en el futuro, el sistema genera alertas de auditoría forense.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83080"/>
            <a:ext cx="2194560" cy="3749040"/>
          </a:xfrm>
          <a:prstGeom prst="rect">
            <a:avLst/>
          </a:prstGeom>
          <a:noFill/>
          <a:ln w="38100">
            <a:solidFill>
              <a:srgbClr val="F2C94C"/>
            </a:solidFill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Paso 4: Consumo Ético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El Next.js frontend consulta la API y muestra al comprador un semáforo de seguridad ecológica e ingredientes clasificados (Verde: Seguro, Amarillo: Precaución, Rojo: Tóxico).</a:t>
            </a:r>
            <a:br/>
            <a:br/>
            <a:r>
              <a:t>Permite comprar con absoluta seguridad y transparencia.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3474720"/>
            <a:ext cx="320040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943600" y="3474720"/>
            <a:ext cx="320040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686800" y="3474720"/>
            <a:ext cx="320040" cy="182880"/>
          </a:xfrm>
          <a:prstGeom prst="rightArrow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Arial"/>
              </a:defRPr>
            </a:pPr>
            <a:r>
              <a:t>CONSOLA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41F"/>
                </a:solidFill>
                <a:latin typeface="Georgia"/>
              </a:defRPr>
            </a:pPr>
            <a:r>
              <a:t>Panel de Administración y Auditoría Gubernamental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1. Gestión Centralizada de Usuarios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Control de accesos diferenciados para Productores Locales, Clientes Finales y Administradores del Sistema. Permite la validación de credenciales comerciales y estado de aprobación.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2. Consola de Integridad del Ledger (QLDB)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Interfaz administrativa avanzada para auditar la inmutabilidad del sistema. Permite contrastar hashes de auditoría para certificar que ningún producto ha evadido la verificación por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41F"/>
                </a:solidFill>
                <a:latin typeface="Arial"/>
              </a:defRPr>
            </a:pPr>
            <a:r>
              <a:t>3. Control y Desglose Químico del Catálogo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  <a:latin typeface="Arial"/>
              </a:defRPr>
            </a:pPr>
            <a:r>
              <a:t>Visualización detallada de la tasa de toxicidad por producto, reportes químicos individuales, ingredientes identificados y control total del inventario ecológico verificado en Soles.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4846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epillo_bam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0F241F"/>
                </a:solidFill>
                <a:latin typeface="Arial"/>
              </a:defRPr>
            </a:pPr>
            <a:r>
              <a:t>Panel Administrativo: Control riguroso y transparente de productos y trazabilidad.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